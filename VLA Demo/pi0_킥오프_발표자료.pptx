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663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548640"/>
            <a:ext cx="47548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0" b="1" dirty="0">
                <a:solidFill>
                  <a:srgbClr val="2744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</a:t>
            </a:r>
            <a:endParaRPr lang="en-US" sz="25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의료로봇연구실 · VLA 심화 트랙(하계) · S5 킥오프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openpi 사전학습 체크포인트  →  연구실 데이터 LoRA 파인튜닝  →  언어 지시 실기 데모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36118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7447D"/>
          </a:solidFill>
          <a:ln w="12700">
            <a:solidFill>
              <a:srgbClr val="2744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 8/10(월) – 8/28(금)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3240" y="361188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27447D"/>
          </a:solidFill>
          <a:ln w="12700">
            <a:solidFill>
              <a:srgbClr val="2744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063240" y="3611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리허설  8/26(수)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36118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21208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데모  8/28(금)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8. 10  ·  대상: VLA 트랙 학부연구생 3인  ·  본 자료는 실행 가이드 문서(DOCX)의 발표용 요약본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목표와 범위 — 무엇을 만드는가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429000" cy="2286000"/>
          </a:xfrm>
          <a:prstGeom prst="roundRect">
            <a:avLst>
              <a:gd name="adj" fmla="val 22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475488" cy="4754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icons/FaBoxOpe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37" y="1714317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2402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사전학습 π0 체크포인트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openpi 공식 리포에서 π0 / π0.5 체크포인트를 내려받는다. 1만 시간 이상 로봇 데이터로 사전학습된 범용 VLA.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05072" y="23317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79976" y="1371600"/>
            <a:ext cx="3429000" cy="2286000"/>
          </a:xfrm>
          <a:prstGeom prst="roundRect">
            <a:avLst>
              <a:gd name="adj" fmla="val 22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608576" y="1600200"/>
            <a:ext cx="475488" cy="4754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home/claude/icons/FaSlid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693" y="1714317"/>
            <a:ext cx="247254" cy="247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8576" y="22402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LoRA 파인튜닝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08576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로봇으로 직접 수집한 시연 데이터 120~200 에피소드로 LoRA 파인튜닝 — 우리 로봇·우리 태스크에 적응시킨다.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882128" y="23317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257032" y="1371600"/>
            <a:ext cx="3429000" cy="2286000"/>
          </a:xfrm>
          <a:prstGeom prst="roundRect">
            <a:avLst>
              <a:gd name="adj" fmla="val 22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8485632" y="1600200"/>
            <a:ext cx="475488" cy="4754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/home/claude/icons/FaRock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749" y="1714317"/>
            <a:ext cx="247254" cy="24725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85632" y="22402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언어 지시 실기 데모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485632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8/28(금), 언어 지시에 따라 로봇이 조작을 수행하는 라이브 데모. 사전 평가 성공률 70% 이상 확보가 목표.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02920" y="4069080"/>
            <a:ext cx="11183112" cy="960120"/>
          </a:xfrm>
          <a:prstGeom prst="roundRect">
            <a:avLst>
              <a:gd name="adj" fmla="val 5238"/>
            </a:avLst>
          </a:prstGeom>
          <a:solidFill>
            <a:srgbClr val="FDF1E2"/>
          </a:solidFill>
          <a:ln w="12700">
            <a:solidFill>
              <a:srgbClr val="FDF1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31520" y="4279392"/>
            <a:ext cx="512064" cy="512064"/>
          </a:xfrm>
          <a:prstGeom prst="ellipse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/home/claude/icons/FaTriangleExclamatio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15" y="4402287"/>
            <a:ext cx="266273" cy="2662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224528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5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제로샷은 목표가 아니다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417320" y="452628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Piper·RM75는 π0 사전학습에 포함되지 않은 로봇 — 파인튜닝 없이는 성능을 기대할 수 없다. 처음부터 "파인튜닝 데모 1개 확실한 성공"에 전 자원을 </a:t>
            </a:r>
            <a:r>
              <a:rPr lang="ko-KR" alt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집중한다</a:t>
            </a: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02920" y="5303520"/>
            <a:ext cx="11183112" cy="82296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777240" y="544068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코드베이스:  openpi(공식 — 모델·파인튜닝·서빙)  +  LeRobot(텔레옵·데이터 수집·포맷).  학습·추론 PC는 Ubuntu 22.04로 통일.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 · 8/28(금)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데모 정의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77256" cy="2057400"/>
          </a:xfrm>
          <a:prstGeom prst="roundRect">
            <a:avLst>
              <a:gd name="adj" fmla="val 2444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icons/FaBulls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64208"/>
            <a:ext cx="4379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태스크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240280"/>
            <a:ext cx="513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조건부 픽앤플레이스 — 테이블 위 색 블록을 지시문에 따라 지정 용기에 넣는다. 물체는 강체 블록 2~3종, 용기는 좌/우 고정.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8776" y="1371600"/>
            <a:ext cx="5477256" cy="2057400"/>
          </a:xfrm>
          <a:prstGeom prst="roundRect">
            <a:avLst>
              <a:gd name="adj" fmla="val 2444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37376" y="1600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/home/claude/icons/FaCommentDot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17099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664208"/>
            <a:ext cx="4379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3~4개 (고정 템플릿)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37376" y="2240280"/>
            <a:ext cx="5020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"[색] 블록을 [왼쪽/오른쪽] [상자/그릇]에 넣어".  같은 장면에서 지시에 따라 행동이 달라지는 것이 이 데모의 핵심(=VLA다움).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657600"/>
            <a:ext cx="5477256" cy="2331720"/>
          </a:xfrm>
          <a:prstGeom prst="roundRect">
            <a:avLst>
              <a:gd name="adj" fmla="val 215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777240" y="3858768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77240" y="416052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</a:t>
            </a:r>
            <a:r>
              <a:rPr lang="en-US" sz="1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이상</a:t>
            </a:r>
            <a:endParaRPr lang="en-US" sz="5400" dirty="0"/>
          </a:p>
        </p:txBody>
      </p:sp>
      <p:sp>
        <p:nvSpPr>
          <p:cNvPr id="17" name="Text 13"/>
          <p:cNvSpPr/>
          <p:nvPr/>
        </p:nvSpPr>
        <p:spPr>
          <a:xfrm>
            <a:off x="777240" y="5120640"/>
            <a:ext cx="4974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조건 사전 평가 20회 기준  +  리허설(8/26) 큐시트 통주 2회 무사고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08776" y="3657600"/>
            <a:ext cx="5477256" cy="2331720"/>
          </a:xfrm>
          <a:prstGeom prst="roundRect">
            <a:avLst>
              <a:gd name="adj" fmla="val 215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37376" y="3886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/home/claude/icons/FaVideo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399592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77456" y="3950208"/>
            <a:ext cx="4379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형식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83096" y="4526280"/>
            <a:ext cx="49286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시연 3회 — 시행당 재시도 1회 허용</a:t>
            </a:r>
            <a:endParaRPr lang="en-US" sz="115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관객 개입 1회 — 관객이 블록 위치를 옮긴 뒤 지시 실행</a:t>
            </a:r>
            <a:endParaRPr lang="en-US" sz="115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(옵션) ACT 백업 정책과의 비교 시연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CRITICAL PATH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임계 마일스톤 — 이 세 개가 전체 일정을 결정한다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75304" cy="2926080"/>
          </a:xfrm>
          <a:prstGeom prst="roundRect">
            <a:avLst>
              <a:gd name="adj" fmla="val 171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58952" y="167335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58952" y="16733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28416" y="1655064"/>
            <a:ext cx="475488" cy="4754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icons/FaGamepa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533" y="1769181"/>
            <a:ext cx="247254" cy="2472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22585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8/11 (화)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58952" y="2880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텔레옵 수단 확정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58952" y="32461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리더암 확보 또는 스페이스마우스 전환 결정. 데이터 수집이 시작되지 못하면 뒤의 모든 </a:t>
            </a:r>
            <a:r>
              <a:rPr lang="ko-KR" alt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일정이 무너진다.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06824" y="1417320"/>
            <a:ext cx="3575304" cy="2926080"/>
          </a:xfrm>
          <a:prstGeom prst="roundRect">
            <a:avLst>
              <a:gd name="adj" fmla="val 171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562856" y="167335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562856" y="16733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32320" y="1655064"/>
            <a:ext cx="475488" cy="4754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/home/claude/icons/FaArrowsRotat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437" y="1769181"/>
            <a:ext cx="247254" cy="24725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62856" y="22585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8/14 (금)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4562856" y="2880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드라이런 1바퀴 완주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4562856" y="3246120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수집 → 변환 → 학습 → 실기 배포를 품질과 무관하게 끝까지 통과. S6 '데이터 v1 동결'과 동일 목표.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110728" y="1417320"/>
            <a:ext cx="3575304" cy="2926080"/>
          </a:xfrm>
          <a:prstGeom prst="roundRect">
            <a:avLst>
              <a:gd name="adj" fmla="val 171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8366760" y="167335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8366760" y="16733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10936224" y="1655064"/>
            <a:ext cx="475488" cy="4754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/home/claude/icons/Fa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0341" y="1769181"/>
            <a:ext cx="247254" cy="24725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66760" y="22585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8/25 (화) 18시</a:t>
            </a:r>
            <a:endParaRPr lang="en-US" sz="2700" dirty="0"/>
          </a:p>
        </p:txBody>
      </p:sp>
      <p:sp>
        <p:nvSpPr>
          <p:cNvPr id="26" name="Text 21"/>
          <p:cNvSpPr/>
          <p:nvPr/>
        </p:nvSpPr>
        <p:spPr>
          <a:xfrm>
            <a:off x="8366760" y="2880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동결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8366760" y="3246120"/>
            <a:ext cx="321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체크포인트·시나리오·환경(카메라/조명/테이블)을 확정하고 이후 변경 금지.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02920" y="4709160"/>
            <a:ext cx="11183112" cy="1051560"/>
          </a:xfrm>
          <a:prstGeom prst="roundRect">
            <a:avLst>
              <a:gd name="adj" fmla="val 4783"/>
            </a:avLst>
          </a:prstGeom>
          <a:solidFill>
            <a:srgbClr val="FDF1E2"/>
          </a:solidFill>
          <a:ln w="12700">
            <a:solidFill>
              <a:srgbClr val="FDF1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731520" y="4974336"/>
            <a:ext cx="512064" cy="512064"/>
          </a:xfrm>
          <a:prstGeom prst="ellipse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3" descr="/home/claude/icons/FaTriangleExclamatio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15" y="5097231"/>
            <a:ext cx="266273" cy="26627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417320" y="4864608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417320" y="516636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중 하나라도 밀리면 그 자리에서 태스크를 단순화한다(지시문 2개 · 물체 1종).  일정을 미루는 선택지는 없다.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로드맵 (8/10 – 8/28)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5272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~8/9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757172" cy="1691640"/>
          </a:xfrm>
          <a:prstGeom prst="roundRect">
            <a:avLst>
              <a:gd name="adj" fmla="val 297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76072" y="1728216"/>
            <a:ext cx="1610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1792" y="2148840"/>
            <a:ext cx="15194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리더암 문의 준비 · H100 계정 · 마운트 설계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88108" y="125272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8/10–8/12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88108" y="1600200"/>
            <a:ext cx="1757172" cy="1691640"/>
          </a:xfrm>
          <a:prstGeom prst="roundRect">
            <a:avLst>
              <a:gd name="adj" fmla="val 297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461260" y="1728216"/>
            <a:ext cx="1610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466340" y="2148840"/>
            <a:ext cx="16108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구축 · GPU/파이프라인 검증 · 브링업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73296" y="125272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8/12–8/14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73296" y="1600200"/>
            <a:ext cx="1757172" cy="1691640"/>
          </a:xfrm>
          <a:prstGeom prst="roundRect">
            <a:avLst>
              <a:gd name="adj" fmla="val 297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46448" y="1728216"/>
            <a:ext cx="1610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92168" y="2148840"/>
            <a:ext cx="15194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텔레옵 완성 · 드라이런(M2)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58484" y="125272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8/14–8/18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8484" y="1600200"/>
            <a:ext cx="1757172" cy="1691640"/>
          </a:xfrm>
          <a:prstGeom prst="roundRect">
            <a:avLst>
              <a:gd name="adj" fmla="val 297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31636" y="1728216"/>
            <a:ext cx="1610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77356" y="2148840"/>
            <a:ext cx="15194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수집 120~200ep · 야간 학습 리듬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3672" y="125272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8/19–8/23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3672" y="1600200"/>
            <a:ext cx="1757172" cy="1691640"/>
          </a:xfrm>
          <a:prstGeom prst="roundRect">
            <a:avLst>
              <a:gd name="adj" fmla="val 297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116824" y="1728216"/>
            <a:ext cx="1610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162544" y="2148840"/>
            <a:ext cx="15194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학습–평가–개선 사이클 ×2~3 · ACT 병행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928860" y="125272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8/24–8/28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928860" y="1600200"/>
            <a:ext cx="1757172" cy="1691640"/>
          </a:xfrm>
          <a:prstGeom prst="roundRect">
            <a:avLst>
              <a:gd name="adj" fmla="val 2973"/>
            </a:avLst>
          </a:prstGeom>
          <a:solidFill>
            <a:srgbClr val="27447D"/>
          </a:solidFill>
          <a:ln w="12700">
            <a:solidFill>
              <a:srgbClr val="2744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002012" y="1728216"/>
            <a:ext cx="1610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0047732" y="2148840"/>
            <a:ext cx="15194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동결(M3) · 리허설 · 최종 데모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370332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 세션·이벤트 (모두 16시, 데모는 별도 공지)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406908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2920" y="406908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 킥오프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45354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8/10(월)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77440" y="406908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377440" y="406908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 데이터 v1 동결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45354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8/14(금)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51960" y="406908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251960" y="406908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 중간 시연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251960" y="45354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8/19(수)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6480" y="406908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126480" y="406908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 산출물 정리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26480" y="45354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8/21(금)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01000" y="406908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8001000" y="406908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리허설 (학생 자체)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01000" y="45354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8/26(수)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875520" y="406908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B3352B"/>
          </a:solidFill>
          <a:ln w="12700">
            <a:solidFill>
              <a:srgbClr val="B335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9875520" y="406908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데모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875520" y="45354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8/28(금)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" y="5212080"/>
            <a:ext cx="11183112" cy="86868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777240" y="53492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8/15(토, 광복절)·8/16(일)은 버퍼(선택 수집일) — 평일 진도가 계획대로면 휴식, 밀리면 선택 수집. 참여 시 반드시 2인 이상 함께 작업.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 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코드베이스 — openpi(공식) + LeRobot(수집)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77256" cy="2834640"/>
          </a:xfrm>
          <a:prstGeom prst="roundRect">
            <a:avLst>
              <a:gd name="adj" fmla="val 177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58952" y="1627632"/>
            <a:ext cx="475488" cy="475488"/>
          </a:xfrm>
          <a:prstGeom prst="ellipse">
            <a:avLst/>
          </a:prstGeom>
          <a:solidFill>
            <a:srgbClr val="27447D"/>
          </a:solidFill>
          <a:ln w="12700">
            <a:solidFill>
              <a:srgbClr val="2744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icons/FaCod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69" y="1741749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700784"/>
            <a:ext cx="4379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openpi  —  모델 · 파인튜닝 · 서빙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5528" y="23317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· π0-FAST · π0.5 공식 체크포인트와 학습·서빙 파이프라인이 한 리포에 일체형</a:t>
            </a:r>
            <a:endParaRPr lang="en-US" sz="1150" dirty="0"/>
          </a:p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 파인튜닝 예제 구성이 가장 잘 정리되어 있음 — 첫 구현은 이 경로를 그대로 따른다</a:t>
            </a:r>
            <a:endParaRPr lang="en-US" sz="1150" dirty="0"/>
          </a:p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JAX 기본 + PyTorch 학습 스크립트 제공 · Ubuntu 22.04 기준 테스트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8776" y="1371600"/>
            <a:ext cx="5477256" cy="2834640"/>
          </a:xfrm>
          <a:prstGeom prst="roundRect">
            <a:avLst>
              <a:gd name="adj" fmla="val 1774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64808" y="1627632"/>
            <a:ext cx="475488" cy="4754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/home/claude/icons/Fa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925" y="1741749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04888" y="1700784"/>
            <a:ext cx="4379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LeRobot  —  텔레옵 · 수집 · 포맷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01384" y="233172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Piper용 리더-팔로워 텔레옵 플러그인 공개(국내 배급사 위고로보틱스) — 수집 스택 구축 시간 최소화</a:t>
            </a:r>
            <a:endParaRPr lang="en-US" sz="1150" dirty="0"/>
          </a:p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스텝당 관절 이동 제한 등 안전장치 내장</a:t>
            </a:r>
            <a:endParaRPr lang="en-US" sz="1150" dirty="0"/>
          </a:p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LeRobot 포맷으로 수집하면 openpi 입력 변환이 거의 그대로 연결된다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443484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→ 모델 파이프라인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02920" y="4800600"/>
            <a:ext cx="1993392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502920" y="480060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텔레옵 수집 (LeRobot)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02920" y="4800600"/>
            <a:ext cx="1993392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2514600" y="487375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2807208" y="4800600"/>
            <a:ext cx="1993392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2807208" y="480060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+ norm stats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807208" y="4800600"/>
            <a:ext cx="1993392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4818888" y="487375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111496" y="4800600"/>
            <a:ext cx="1993392" cy="50292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5111496" y="480060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 학습 (openpi)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123176" y="487375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7415784" y="4800600"/>
            <a:ext cx="1993392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7415784" y="480060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 server 서빙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7415784" y="4800600"/>
            <a:ext cx="1993392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9427464" y="487375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9720072" y="4800600"/>
            <a:ext cx="1993392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9720072" y="480060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 클라이언트 실행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9720072" y="4800600"/>
            <a:ext cx="1993392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 ②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주력 로봇 — 두 대 병행 없음, 8/12(수) 저녁 판정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5477256" cy="2743200"/>
          </a:xfrm>
          <a:prstGeom prst="roundRect">
            <a:avLst>
              <a:gd name="adj" fmla="val 183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58952" y="1591056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icons/FaRobo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0078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45920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AgileX Piper  (유력 1순위)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5320" y="2221992"/>
            <a:ext cx="5202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리더-팔로워 텔레옵용 LeRobot 플러그인 공개 — 수집 구축이 가장 빠른 경로</a:t>
            </a:r>
            <a:endParaRPr lang="en-US" sz="1150" dirty="0"/>
          </a:p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소형·경량으로 충돌 리스크가 작고 데모 테이블 운용이 쉽다</a:t>
            </a:r>
            <a:endParaRPr lang="en-US" sz="1150" dirty="0"/>
          </a:p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교시용 리더암 별도 필요 → 8/10(월) 오전 위고/AgileX 구매·대여 문의가 최우선 액션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8776" y="1353312"/>
            <a:ext cx="5477256" cy="2743200"/>
          </a:xfrm>
          <a:prstGeom prst="roundRect">
            <a:avLst>
              <a:gd name="adj" fmla="val 183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64808" y="1591056"/>
            <a:ext cx="457200" cy="457200"/>
          </a:xfrm>
          <a:prstGeom prst="ellipse">
            <a:avLst/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/home/claude/icons/FaRobo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70078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645920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RealMan RM75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83096" y="2221992"/>
            <a:ext cx="50535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S5에서 준비한 기존 텔레옵 수단이 이미 동작한다면 그대로 사용 가능</a:t>
            </a:r>
            <a:endParaRPr lang="en-US" sz="1150" dirty="0"/>
          </a:p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B33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직접교시(드래그)는 금지 — 시연자 손이 카메라에 노출되어 VLA 데이터로 부적합</a:t>
            </a:r>
            <a:endParaRPr lang="en-US" sz="1150" dirty="0"/>
          </a:p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레코더를 직접 작성해야 할 수 있음(+1~2일)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4315968"/>
            <a:ext cx="11183112" cy="777240"/>
          </a:xfrm>
          <a:prstGeom prst="roundRect">
            <a:avLst>
              <a:gd name="adj" fmla="val 6471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777240" y="4315968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기준은 단 하나 — "8/12까지 부드러운 텔레옵 시연 데이터가 나오는 쪽" 1대를 주력으로 확정, 나머지는 이번 트랙에서 제외.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5285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텔레옵 우선순위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02920" y="5596128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502920" y="5596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Piper 리더암 (권장)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0" y="5596128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3657600" y="55961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스페이스마우스 EE 텔레옵 (플랜 B)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086600" y="5596128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5B7BB5"/>
          </a:solidFill>
          <a:ln w="12700">
            <a:solidFill>
              <a:srgbClr val="5B7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7086600" y="5596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RM75 기존 수단 (동작 확인 시)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241280" y="55961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키보드는 최후 수단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SPEC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태스크 사양 — 언어 조건부 픽앤플레이스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03520" cy="4206240"/>
          </a:xfrm>
          <a:prstGeom prst="roundRect">
            <a:avLst>
              <a:gd name="adj" fmla="val 1196"/>
            </a:avLst>
          </a:prstGeom>
          <a:solidFill>
            <a:srgbClr val="F8FAFD"/>
          </a:solidFill>
          <a:ln w="9525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상면(위에서 본 모습)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88720" y="2240280"/>
            <a:ext cx="3931920" cy="2286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2E5395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8016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작업영역 40×30cm — 테이프 마킹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57400" y="3291840"/>
            <a:ext cx="384048" cy="384048"/>
          </a:xfrm>
          <a:prstGeom prst="rect">
            <a:avLst/>
          </a:prstGeom>
          <a:solidFill>
            <a:srgbClr val="D14343"/>
          </a:solidFill>
          <a:ln w="9525">
            <a:solidFill>
              <a:srgbClr val="1F24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017520" y="3429000"/>
            <a:ext cx="384048" cy="384048"/>
          </a:xfrm>
          <a:prstGeom prst="rect">
            <a:avLst/>
          </a:prstGeom>
          <a:solidFill>
            <a:srgbClr val="2E5FBF"/>
          </a:solidFill>
          <a:ln w="9525">
            <a:solidFill>
              <a:srgbClr val="1F24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886200" y="3200400"/>
            <a:ext cx="384048" cy="384048"/>
          </a:xfrm>
          <a:prstGeom prst="rect">
            <a:avLst/>
          </a:prstGeom>
          <a:solidFill>
            <a:srgbClr val="E0A400"/>
          </a:solidFill>
          <a:ln w="9525">
            <a:solidFill>
              <a:srgbClr val="1F24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블록 2~3종 · 4~6cm 강체 · 초기 위치 랜덤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8952" y="4709160"/>
            <a:ext cx="914400" cy="640080"/>
          </a:xfrm>
          <a:prstGeom prst="rect">
            <a:avLst/>
          </a:prstGeom>
          <a:solidFill>
            <a:srgbClr val="EEF3FA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58952" y="5376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상자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4709160"/>
            <a:ext cx="914400" cy="640080"/>
          </a:xfrm>
          <a:prstGeom prst="ellipse">
            <a:avLst/>
          </a:prstGeom>
          <a:solidFill>
            <a:srgbClr val="EEF3FA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0" y="53766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그릇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34640" y="4846320"/>
            <a:ext cx="68580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697480" y="53766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 베이스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0" y="1783080"/>
            <a:ext cx="402336" cy="40233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0" descr="/home/claude/icons/FaCamera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761" y="1879641"/>
            <a:ext cx="209215" cy="20921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069080" y="1847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카메라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188720" y="1783080"/>
            <a:ext cx="365760" cy="365760"/>
          </a:xfrm>
          <a:prstGeom prst="ellipse">
            <a:avLst/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/home/claude/icons/FaCamera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502" y="1870862"/>
            <a:ext cx="190195" cy="19019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600200" y="18470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카메라(그리퍼 장착)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126480" y="1463040"/>
            <a:ext cx="5559552" cy="969264"/>
          </a:xfrm>
          <a:prstGeom prst="roundRect">
            <a:avLst>
              <a:gd name="adj" fmla="val 51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6355080" y="15727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355080" y="1865376"/>
            <a:ext cx="4983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블록 2~3종(빨강/파랑/노랑), 한 변 4~6cm 강체. 파지 실패가 잦으면 스펀지 큐브로 교체.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6126480" y="2542032"/>
            <a:ext cx="5559552" cy="969264"/>
          </a:xfrm>
          <a:prstGeom prst="roundRect">
            <a:avLst>
              <a:gd name="adj" fmla="val 51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6355080" y="265176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용기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355080" y="2944368"/>
            <a:ext cx="5102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상자·그릇 2개, 좌/우 고정 위치. 입구 지름 ≥ 블록의 2.5배.</a:t>
            </a:r>
            <a:endParaRPr lang="en-US" sz="1080" dirty="0"/>
          </a:p>
        </p:txBody>
      </p:sp>
      <p:sp>
        <p:nvSpPr>
          <p:cNvPr id="30" name="Shape 26"/>
          <p:cNvSpPr/>
          <p:nvPr/>
        </p:nvSpPr>
        <p:spPr>
          <a:xfrm>
            <a:off x="6126480" y="3621024"/>
            <a:ext cx="5559552" cy="969264"/>
          </a:xfrm>
          <a:prstGeom prst="roundRect">
            <a:avLst>
              <a:gd name="adj" fmla="val 51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6355080" y="3730752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355080" y="4023360"/>
            <a:ext cx="5102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"[색] 블록을 [왼/오른쪽] [상자/그릇]에 넣어" — 수집·평가·데모 모두 동일 문구(고정 템플릿).</a:t>
            </a:r>
            <a:endParaRPr lang="en-US" sz="1080" dirty="0"/>
          </a:p>
        </p:txBody>
      </p:sp>
      <p:sp>
        <p:nvSpPr>
          <p:cNvPr id="33" name="Shape 29"/>
          <p:cNvSpPr/>
          <p:nvPr/>
        </p:nvSpPr>
        <p:spPr>
          <a:xfrm>
            <a:off x="6126480" y="4700016"/>
            <a:ext cx="5559552" cy="969264"/>
          </a:xfrm>
          <a:prstGeom prst="roundRect">
            <a:avLst>
              <a:gd name="adj" fmla="val 51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0"/>
          <p:cNvSpPr/>
          <p:nvPr/>
        </p:nvSpPr>
        <p:spPr>
          <a:xfrm>
            <a:off x="6355080" y="4809744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배제 항목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6355080" y="5102352"/>
            <a:ext cx="486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 물체(수건 등) · 정밀 삽입 · 블록 적층 · 양팔 작업은 이번 트랙에서 다루지 않는다.</a:t>
            </a:r>
            <a:endParaRPr lang="en-US" sz="1080" dirty="0"/>
          </a:p>
        </p:txBody>
      </p:sp>
      <p:sp>
        <p:nvSpPr>
          <p:cNvPr id="36" name="Text 32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배치 — 학습·추론·백업의 분리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60320" cy="77724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6642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8 GB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2560320" cy="77724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290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 파인튜닝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29000" y="16642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22.5 GB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89320" y="1325880"/>
            <a:ext cx="2560320" cy="77724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1722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 파인튜닝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72200" y="16642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70 GB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69680" y="1325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openpi 공식 요구 사양 기준.  fsdp_devices 설정으로 멀티 GPU 분할 시 GPU당 요구량 축소 가능.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2624328" cy="2651760"/>
          </a:xfrm>
          <a:prstGeom prst="roundRect">
            <a:avLst>
              <a:gd name="adj" fmla="val 191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04088" y="2624328"/>
            <a:ext cx="420624" cy="42062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/home/claude/icons/FaMicrochi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38" y="2725278"/>
            <a:ext cx="218724" cy="21872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892808" y="2660904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1892808" y="266090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주력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04088" y="317296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RTX 5090 · 32GB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04088" y="3520440"/>
            <a:ext cx="2359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 파인튜닝 + 반복 실험. 5090으로 openpi 파인튜닝을 수행한 외부 </a:t>
            </a:r>
            <a:r>
              <a:rPr lang="en-US" sz="103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</a:t>
            </a:r>
            <a:r>
              <a:rPr lang="en-US" sz="10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3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</a:t>
            </a:r>
            <a:r>
              <a:rPr lang="en-US" sz="10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설정에 따라 LoRA가 </a:t>
            </a:r>
            <a:r>
              <a:rPr lang="en-US" sz="103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표기치를</a:t>
            </a:r>
            <a:r>
              <a:rPr lang="en-US" sz="10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03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초과한</a:t>
            </a:r>
            <a:r>
              <a:rPr lang="en-US" sz="10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사례 보고 → 배치 축소로 시작, OOM 시 즉시 H100 전환.</a:t>
            </a:r>
            <a:endParaRPr lang="en-US" sz="1030" dirty="0"/>
          </a:p>
        </p:txBody>
      </p:sp>
      <p:sp>
        <p:nvSpPr>
          <p:cNvPr id="21" name="Shape 18"/>
          <p:cNvSpPr/>
          <p:nvPr/>
        </p:nvSpPr>
        <p:spPr>
          <a:xfrm>
            <a:off x="3355848" y="2423160"/>
            <a:ext cx="2624328" cy="2651760"/>
          </a:xfrm>
          <a:prstGeom prst="roundRect">
            <a:avLst>
              <a:gd name="adj" fmla="val 191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3557016" y="2624328"/>
            <a:ext cx="420624" cy="42062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/home/claude/icons/FaMicrochi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966" y="2725278"/>
            <a:ext cx="218724" cy="218724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745736" y="2660904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4745736" y="266090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전용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557016" y="317296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RTX 5080 #1 · 16GB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3557016" y="352044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 server 상주. 추론 요구(8GB↑) 충족. 데모 당일에도 이 장비 기준 — 리허설부터 동일 구성으로 운영.</a:t>
            </a:r>
            <a:endParaRPr lang="en-US" sz="1030" dirty="0"/>
          </a:p>
        </p:txBody>
      </p:sp>
      <p:sp>
        <p:nvSpPr>
          <p:cNvPr id="28" name="Shape 24"/>
          <p:cNvSpPr/>
          <p:nvPr/>
        </p:nvSpPr>
        <p:spPr>
          <a:xfrm>
            <a:off x="6208776" y="2423160"/>
            <a:ext cx="2624328" cy="2651760"/>
          </a:xfrm>
          <a:prstGeom prst="roundRect">
            <a:avLst>
              <a:gd name="adj" fmla="val 191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6409944" y="2624328"/>
            <a:ext cx="420624" cy="42062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/home/claude/icons/FaMicrochi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894" y="2725278"/>
            <a:ext cx="218724" cy="218724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7598664" y="2660904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/>
          <p:nvPr/>
        </p:nvSpPr>
        <p:spPr>
          <a:xfrm>
            <a:off x="7598664" y="266090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 + 백업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409944" y="317296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RTX 5080 #2 · 16GB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6409944" y="352044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시각화·전처리 담당 + ACT 백업 정책 학습(역할 C).</a:t>
            </a:r>
            <a:endParaRPr lang="en-US" sz="1030" dirty="0"/>
          </a:p>
        </p:txBody>
      </p:sp>
      <p:sp>
        <p:nvSpPr>
          <p:cNvPr id="35" name="Shape 30"/>
          <p:cNvSpPr/>
          <p:nvPr/>
        </p:nvSpPr>
        <p:spPr>
          <a:xfrm>
            <a:off x="9061704" y="2423160"/>
            <a:ext cx="2624328" cy="2651760"/>
          </a:xfrm>
          <a:prstGeom prst="roundRect">
            <a:avLst>
              <a:gd name="adj" fmla="val 191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1"/>
          <p:cNvSpPr/>
          <p:nvPr/>
        </p:nvSpPr>
        <p:spPr>
          <a:xfrm>
            <a:off x="9262872" y="2624328"/>
            <a:ext cx="420624" cy="420624"/>
          </a:xfrm>
          <a:prstGeom prst="ellipse">
            <a:avLst/>
          </a:prstGeom>
          <a:solidFill>
            <a:srgbClr val="27447D"/>
          </a:solidFill>
          <a:ln w="12700">
            <a:solidFill>
              <a:srgbClr val="2744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3" descr="/home/claude/icons/FaCloudArrowU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822" y="2725278"/>
            <a:ext cx="218724" cy="218724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10451592" y="2660904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27447D"/>
          </a:solidFill>
          <a:ln w="12700">
            <a:solidFill>
              <a:srgbClr val="2744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/>
          <p:nvPr/>
        </p:nvSpPr>
        <p:spPr>
          <a:xfrm>
            <a:off x="10451592" y="266090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본학습 · 풀 FT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9262872" y="317296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H100 ×2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9262872" y="3520440"/>
            <a:ext cx="2319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실패 시 LoRA 이관 / 풀 파인튜닝(FSDP). 8/10까지 계정·컨테이너·데이터 업로드 경로 세팅 완료.</a:t>
            </a:r>
            <a:endParaRPr lang="en-US" sz="1030" dirty="0"/>
          </a:p>
        </p:txBody>
      </p:sp>
      <p:sp>
        <p:nvSpPr>
          <p:cNvPr id="42" name="Shape 36"/>
          <p:cNvSpPr/>
          <p:nvPr/>
        </p:nvSpPr>
        <p:spPr>
          <a:xfrm>
            <a:off x="502920" y="5349240"/>
            <a:ext cx="11183112" cy="731520"/>
          </a:xfrm>
          <a:prstGeom prst="roundRect">
            <a:avLst>
              <a:gd name="adj" fmla="val 6875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7"/>
          <p:cNvSpPr/>
          <p:nvPr/>
        </p:nvSpPr>
        <p:spPr>
          <a:xfrm>
            <a:off x="777240" y="534924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1E7F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5090은 "빠른 반복용", H100은 "확실한 본학습용"으로 이원화 — 어느 한쪽이 막혀도 학습이 멈추지 않게 한다.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CHECK · 8/10(월) 오전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Blackwell(RTX 50번대) 스모크 테스트 — 첫날 오전 필수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RTX 5080/5090은 sm_120 아키텍처 — 최신 NVIDIA 드라이버 + CUDA 12.8 계열 + 최신 jax/jaxlib(또는 cu128 대응 PyTorch)가 아니면 "no kernel image" 류 오류가 발생한다.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575304" cy="1965960"/>
          </a:xfrm>
          <a:prstGeom prst="roundRect">
            <a:avLst>
              <a:gd name="adj" fmla="val 255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22199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nvidia-smi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드라이버·GPU 인식 확인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96512" y="27660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06824" y="1965960"/>
            <a:ext cx="3575304" cy="1965960"/>
          </a:xfrm>
          <a:prstGeom prst="roundRect">
            <a:avLst>
              <a:gd name="adj" fmla="val 255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35424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3542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9784" y="222199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jax.devices()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35424" y="288036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JAX가 GPU를 잡는지 확인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(uv run python -c "import jax; print(jax.devices())")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0416" y="27660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10728" y="1965960"/>
            <a:ext cx="3575304" cy="1965960"/>
          </a:xfrm>
          <a:prstGeom prst="roundRect">
            <a:avLst>
              <a:gd name="adj" fmla="val 255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339328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33932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33688" y="222199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Libero 예제 학습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39328" y="288036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config를 수 스텝만 실행 —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스텝이 실제로 도는지 확인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343400"/>
            <a:ext cx="11183112" cy="1371600"/>
          </a:xfrm>
          <a:prstGeom prst="roundRect">
            <a:avLst>
              <a:gd name="adj" fmla="val 366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58952" y="4617720"/>
            <a:ext cx="548640" cy="548640"/>
          </a:xfrm>
          <a:prstGeom prst="ellipse">
            <a:avLst/>
          </a:prstGeom>
          <a:solidFill>
            <a:srgbClr val="B3352B"/>
          </a:solidFill>
          <a:ln w="12700">
            <a:solidFill>
              <a:srgbClr val="B335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0" descr="/home/claude/icons/FaTriangleExclama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6" y="4749394"/>
            <a:ext cx="285293" cy="285293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508760" y="4526280"/>
            <a:ext cx="9902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33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규칙 — 여기서 시간을 태우지 않는다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508760" y="4846320"/>
            <a:ext cx="9811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8/10 오전 내 ③ 미통과 → 원인 불문, 학습은 당일 중 H100로 우회한다 (로컬은 추론·시각화 전담)</a:t>
            </a:r>
            <a:endParaRPr lang="en-US" sz="1200" dirty="0"/>
          </a:p>
          <a:p>
            <a:pPr marL="127000" indent="-1270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5090 디버깅은 다른 작업과 병렬로만 진행 — 전담 인력 배정 금지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SETUP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2뷰와 환경 통제 — "수집 시작 후엔 아무것도 바꾸지 않는다"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846320" cy="4023360"/>
          </a:xfrm>
          <a:prstGeom prst="roundRect">
            <a:avLst>
              <a:gd name="adj" fmla="val 1250"/>
            </a:avLst>
          </a:prstGeom>
          <a:solidFill>
            <a:srgbClr val="F8FAFD"/>
          </a:solidFill>
          <a:ln w="9525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 개념도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60120" y="4480560"/>
            <a:ext cx="3931920" cy="1645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645920" y="4279392"/>
            <a:ext cx="502920" cy="237744"/>
          </a:xfrm>
          <a:prstGeom prst="ellipse">
            <a:avLst/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 flipV="1">
            <a:off x="1892808" y="3337560"/>
            <a:ext cx="566928" cy="1005840"/>
          </a:xfrm>
          <a:prstGeom prst="line">
            <a:avLst/>
          </a:prstGeom>
          <a:noFill/>
          <a:ln w="635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459736" y="3337560"/>
            <a:ext cx="822960" cy="411480"/>
          </a:xfrm>
          <a:prstGeom prst="line">
            <a:avLst/>
          </a:prstGeom>
          <a:noFill/>
          <a:ln w="635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3694176"/>
            <a:ext cx="118872" cy="201168"/>
          </a:xfrm>
          <a:prstGeom prst="rect">
            <a:avLst/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88920" y="3364992"/>
            <a:ext cx="347472" cy="347472"/>
          </a:xfrm>
          <a:prstGeom prst="ellipse">
            <a:avLst/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/home/claude/icons/FaCamera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313" y="3448385"/>
            <a:ext cx="180685" cy="18068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227832" y="32735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카메라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80560" y="2148840"/>
            <a:ext cx="420624" cy="42062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/home/claude/icons/FaCamera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10" y="2249790"/>
            <a:ext cx="218724" cy="2187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17520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카메라(상부 사선)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 flipH="1">
            <a:off x="2697480" y="2359152"/>
            <a:ext cx="1993392" cy="2121408"/>
          </a:xfrm>
          <a:prstGeom prst="line">
            <a:avLst/>
          </a:prstGeom>
          <a:noFill/>
          <a:ln w="19050">
            <a:solidFill>
              <a:srgbClr val="9FB6D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 flipH="1">
            <a:off x="4434840" y="2359152"/>
            <a:ext cx="256032" cy="2121408"/>
          </a:xfrm>
          <a:prstGeom prst="line">
            <a:avLst/>
          </a:prstGeom>
          <a:noFill/>
          <a:ln w="19050">
            <a:solidFill>
              <a:srgbClr val="9FB6D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3794760" y="4251960"/>
            <a:ext cx="256032" cy="237744"/>
          </a:xfrm>
          <a:prstGeom prst="rect">
            <a:avLst/>
          </a:prstGeom>
          <a:solidFill>
            <a:srgbClr val="D14343"/>
          </a:solidFill>
          <a:ln w="6350">
            <a:solidFill>
              <a:srgbClr val="1F24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960120" y="4773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삼각대·테이블 다리 위치는 바닥 테이프로 마킹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669280" y="1463040"/>
            <a:ext cx="6016752" cy="932688"/>
          </a:xfrm>
          <a:prstGeom prst="roundRect">
            <a:avLst>
              <a:gd name="adj" fmla="val 539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5852160" y="1700784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/home/claude/icons/FaCamera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1810512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73952" y="1572768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473952" y="1847088"/>
            <a:ext cx="511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리얼센스 2대 — 외부(작업영역 전체가 보이는 상부 사선) 1 + 손목 1. RGB 스트림만 사용. 시리얼 번호를 외부/손목으로 고정 매핑.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669280" y="2505456"/>
            <a:ext cx="6016752" cy="932688"/>
          </a:xfrm>
          <a:prstGeom prst="roundRect">
            <a:avLst>
              <a:gd name="adj" fmla="val 539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5852160" y="2743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/home/claude/icons/FaWren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85292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473952" y="2615184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마운트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473952" y="2889504"/>
            <a:ext cx="511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브래킷은 8/10 3D 프린트로 제작·장착. 케이블은 관절에 걸리지 않게 스파이럴 밴드로 고정.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669280" y="3547872"/>
            <a:ext cx="6016752" cy="932688"/>
          </a:xfrm>
          <a:prstGeom prst="roundRect">
            <a:avLst>
              <a:gd name="adj" fmla="val 539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5852160" y="3785616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4" descr="/home/claude/icons/Fa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3895344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73952" y="365760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원칙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6473952" y="3931920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시작~데모 당일까지 카메라 위치·각도, 조명, 테이블·용기 위치 변경 금지. 매일 시작 전 기준 사진과 대조.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5669280" y="4590288"/>
            <a:ext cx="6016752" cy="932688"/>
          </a:xfrm>
          <a:prstGeom prst="roundRect">
            <a:avLst>
              <a:gd name="adj" fmla="val 539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5852160" y="4828032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5" descr="/home/claude/icons/FaLightbulb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4937760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473952" y="4700016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6473952" y="4974336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창가 자연광 변동을 피한다 — 블라인드를 내리고 실내등만 사용(수집·평가·데모 동일 조건).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42" name="Text 34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분담(R&amp;R) — 데모까지 고정, 담당자는 오늘 확정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575304" cy="3749040"/>
          </a:xfrm>
          <a:prstGeom prst="roundRect">
            <a:avLst>
              <a:gd name="adj" fmla="val 140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58952" y="1627632"/>
            <a:ext cx="512064" cy="51206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icons/FaBra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47" y="175052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19072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모델/학습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3026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openpi 설치·환경, H100 세팅</a:t>
            </a:r>
            <a:endParaRPr lang="en-US" sz="110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Libero 검증 → 커스텀 TrainConfig</a:t>
            </a:r>
            <a:endParaRPr lang="en-US" sz="110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 stats · LoRA 학습 운영</a:t>
            </a:r>
            <a:endParaRPr lang="en-US" sz="110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체크포인트·W&amp;B 로그 관리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4133088"/>
            <a:ext cx="3026664" cy="0"/>
          </a:xfrm>
          <a:prstGeom prst="line">
            <a:avLst/>
          </a:prstGeom>
          <a:noFill/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77240" y="4206240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학습 config · 체크포인트 · 학습 로그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77240" y="4681728"/>
            <a:ext cx="30266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77240" y="4681728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담당자:  (킥오프에서 기입)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4681728"/>
            <a:ext cx="3026664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306824" y="1371600"/>
            <a:ext cx="3575304" cy="3749040"/>
          </a:xfrm>
          <a:prstGeom prst="roundRect">
            <a:avLst>
              <a:gd name="adj" fmla="val 140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562856" y="1627632"/>
            <a:ext cx="512064" cy="51206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/home/claude/icons/FaRobo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751" y="1750527"/>
            <a:ext cx="266273" cy="26627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21224" y="1719072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로봇/제어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4581144" y="2377440"/>
            <a:ext cx="3026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 SDK·CAN 브링업</a:t>
            </a:r>
            <a:endParaRPr lang="en-US" sz="110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 client 작성</a:t>
            </a:r>
            <a:endParaRPr lang="en-US" sz="110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클리핑·속도 제한·소프트 E-stop</a:t>
            </a:r>
            <a:endParaRPr lang="en-US" sz="110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마운트·캘리브·기준 사진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81144" y="4133088"/>
            <a:ext cx="3026664" cy="0"/>
          </a:xfrm>
          <a:prstGeom prst="line">
            <a:avLst/>
          </a:prstGeom>
          <a:noFill/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4581144" y="4206240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실행 클라이언트 · 안전 모듈 · 캘리브 기록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581144" y="4681728"/>
            <a:ext cx="30266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4581144" y="4681728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담당자:  (킥오프에서 기입)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81144" y="4681728"/>
            <a:ext cx="3026664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110728" y="1371600"/>
            <a:ext cx="3575304" cy="3749040"/>
          </a:xfrm>
          <a:prstGeom prst="roundRect">
            <a:avLst>
              <a:gd name="adj" fmla="val 140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8366760" y="1627632"/>
            <a:ext cx="512064" cy="51206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/home/claude/icons/Fa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655" y="1750527"/>
            <a:ext cx="266273" cy="26627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025128" y="1719072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· 데이터/텔레옵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8385048" y="2377440"/>
            <a:ext cx="3026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텔레옵 스택 구축(리더암/마우스)</a:t>
            </a:r>
            <a:endParaRPr lang="en-US" sz="110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프로토콜 운영·품질검수</a:t>
            </a:r>
            <a:endParaRPr lang="en-US" sz="110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LeRobot 포맷·데이터 버전 관리</a:t>
            </a:r>
            <a:endParaRPr lang="en-US" sz="110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백업 정책 학습(5080#2)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385048" y="4133088"/>
            <a:ext cx="3026664" cy="0"/>
          </a:xfrm>
          <a:prstGeom prst="line">
            <a:avLst/>
          </a:prstGeom>
          <a:noFill/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/>
          <p:nvPr/>
        </p:nvSpPr>
        <p:spPr>
          <a:xfrm>
            <a:off x="8385048" y="4206240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데이터셋 v1/v2 · 검수 로그 · ACT 체크포인트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8385048" y="4681728"/>
            <a:ext cx="30266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/>
          <p:nvPr/>
        </p:nvSpPr>
        <p:spPr>
          <a:xfrm>
            <a:off x="8385048" y="4681728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담당자:  (킥오프에서 기입)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8385048" y="4681728"/>
            <a:ext cx="3026664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502920" y="5349240"/>
            <a:ext cx="11183112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777240" y="534924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역할은 데모 당일까지 고정한다. 병목이 생기면 업무를 넘기지 말고 해당 역할에 인력을 "추가"로 붙인다(담당 책임은 유지).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8/10(월) – 8/12(수)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구축·파이프라인 검증 — "가장 작은 한 바퀴"의 부품 준비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75304" cy="3291840"/>
          </a:xfrm>
          <a:prstGeom prst="roundRect">
            <a:avLst>
              <a:gd name="adj" fmla="val 152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58952" y="1655064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58952" y="16550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8/10 (월)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2286000"/>
            <a:ext cx="31018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설치 + 5090 스모크 테스트(오전) → 실패 시 H100 전환 결정</a:t>
            </a:r>
            <a:endParaRPr lang="en-US" sz="1080" dirty="0"/>
          </a:p>
          <a:p>
            <a:pPr marL="127000" indent="-1270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Piper CAN/RM75 SDK 브링업 · 손목 브래킷 프린트</a:t>
            </a:r>
            <a:endParaRPr lang="en-US" sz="1080" dirty="0"/>
          </a:p>
          <a:p>
            <a:pPr marL="127000" indent="-1270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· 리더암 문의 발송(오전) · 리얼센스 확인 · </a:t>
            </a:r>
            <a:r>
              <a:rPr lang="ko-KR" alt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/조명 셋업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06824" y="1417320"/>
            <a:ext cx="3575304" cy="3291840"/>
          </a:xfrm>
          <a:prstGeom prst="roundRect">
            <a:avLst>
              <a:gd name="adj" fmla="val 152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62856" y="1655064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62856" y="16550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8/11 (화)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62856" y="2286000"/>
            <a:ext cx="31892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Libero LoRA 검증 학습(수 스텝 → 수천 스텝) · W&amp;B 확인</a:t>
            </a:r>
            <a:endParaRPr lang="en-US" sz="1080" dirty="0"/>
          </a:p>
          <a:p>
            <a:pPr marL="127000" indent="-1270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서버-클라이언트 더미 왕복 · 클리핑/E-stop </a:t>
            </a:r>
            <a:r>
              <a:rPr lang="ko-KR" alt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초안</a:t>
            </a:r>
            <a:endParaRPr lang="en-US" sz="1080" dirty="0"/>
          </a:p>
          <a:p>
            <a:pPr marL="127000" indent="-1270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· 텔레옵 수단 확정(M1) · LeRobot 수집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10728" y="1417320"/>
            <a:ext cx="3575304" cy="3291840"/>
          </a:xfrm>
          <a:prstGeom prst="roundRect">
            <a:avLst>
              <a:gd name="adj" fmla="val 152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366760" y="1655064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366760" y="16550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8/12 (수)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2286000"/>
            <a:ext cx="3063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커스텀 TrainConfig 초안 · norm stats 스크립트 점검</a:t>
            </a:r>
            <a:endParaRPr lang="en-US" sz="1080" dirty="0"/>
          </a:p>
          <a:p>
            <a:pPr marL="127000" indent="-1270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주력 로봇 판정 자료 준비(양쪽 저속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80" dirty="0"/>
          </a:p>
          <a:p>
            <a:pPr marL="127000" indent="-1270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· 텔레옵 조작 연습 · 수집 스크립트 리허설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4983480"/>
            <a:ext cx="11183112" cy="1097280"/>
          </a:xfrm>
          <a:prstGeom prst="roundRect">
            <a:avLst>
              <a:gd name="adj" fmla="val 4583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5230368"/>
            <a:ext cx="548640" cy="548640"/>
          </a:xfrm>
          <a:prstGeom prst="ellipse">
            <a:avLst/>
          </a:prstGeom>
          <a:solidFill>
            <a:srgbClr val="1E7F4F"/>
          </a:solidFill>
          <a:ln w="12700">
            <a:solidFill>
              <a:srgbClr val="1E7F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0" descr="/home/claude/icons/FaFlagCheckere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5362042"/>
            <a:ext cx="285293" cy="28529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63040" y="512064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F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1의 성공 = 부품이 전부 "동작 상태"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463040" y="5431536"/>
            <a:ext cx="9948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파이프라인(Libero로 검증) · 로봇 저속 제어 · 카메라 2뷰 · 정책 서버-클라이언트 왕복 — 네 가지가 각각 확인되면 Phase 2에서 이들을 </a:t>
            </a:r>
            <a:r>
              <a:rPr lang="en-US" sz="115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연결만</a:t>
            </a: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15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</a:t>
            </a: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된다.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절차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설치·검증 핵심 명령과 완료 기준(Exit)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035040" cy="3657600"/>
          </a:xfrm>
          <a:prstGeom prst="roundRect">
            <a:avLst>
              <a:gd name="adj" fmla="val 1375"/>
            </a:avLst>
          </a:prstGeom>
          <a:solidFill>
            <a:srgbClr val="F4F5F7"/>
          </a:solidFill>
          <a:ln w="9525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설치 (Ubuntu 22.04 / 학습·추론 PC 공통)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--recurse-submodules \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https://github.com/Physical-Intelligence/openpi.git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openpi &amp;&amp; GIT_LFS_SKIP_SMUDGE=1 uv sync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정규화 통계 → LoRA 학습 (검증: Libero 예제 config)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scripts/compute_norm_stats.py --config-name &lt;cfg&gt;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XLA_PYTHON_CLIENT_MEM_FRACTION=0.9 \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uv run scripts/train.py &lt;cfg&gt; --exp-name=smoke --overwrite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Piper CAN 브링업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ip link set can0 type can bitrate 1000000 &amp;&amp; \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sudo ip link set can0 up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51206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명령·플래그·config 이름은 openpi README 최신 버전 기준으로 최종 확인(오픈소스 특성상 변동 가능). </a:t>
            </a:r>
            <a:r>
              <a:rPr lang="ko-KR" altLang="en-US" sz="9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체크포인트는</a:t>
            </a:r>
            <a:r>
              <a:rPr lang="en-US" sz="9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gs://openpi-assets 경로에서 자동/수동 다운로드 — 디스크 100GB+ 확보.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858000" y="1371600"/>
            <a:ext cx="4828032" cy="4297680"/>
          </a:xfrm>
          <a:prstGeom prst="roundRect">
            <a:avLst>
              <a:gd name="adj" fmla="val 117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086600" y="1600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home/claude/icons/FaList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70992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99248" y="167335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 체크 — 8/12(수) 저녁 점검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132320" y="2331720"/>
            <a:ext cx="21945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479792" y="2286000"/>
            <a:ext cx="3959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Libero LoRA 학습이 수천 스텝 안정 진행 + 체크포인트 저장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7132320" y="2990088"/>
            <a:ext cx="21945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479792" y="2944368"/>
            <a:ext cx="3959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주력 로봇 확정 · 저속 조그·홈 복귀·E-stop 동작</a:t>
            </a:r>
            <a:endParaRPr lang="en-US" sz="1130" dirty="0"/>
          </a:p>
        </p:txBody>
      </p:sp>
      <p:sp>
        <p:nvSpPr>
          <p:cNvPr id="15" name="Shape 12"/>
          <p:cNvSpPr/>
          <p:nvPr/>
        </p:nvSpPr>
        <p:spPr>
          <a:xfrm>
            <a:off x="7132320" y="3648456"/>
            <a:ext cx="21945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7479792" y="3602736"/>
            <a:ext cx="3959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2대 마운트·고정 + 기준 사진 촬영 완료</a:t>
            </a:r>
            <a:endParaRPr lang="en-US" sz="1130" dirty="0"/>
          </a:p>
        </p:txBody>
      </p:sp>
      <p:sp>
        <p:nvSpPr>
          <p:cNvPr id="17" name="Shape 14"/>
          <p:cNvSpPr/>
          <p:nvPr/>
        </p:nvSpPr>
        <p:spPr>
          <a:xfrm>
            <a:off x="7132320" y="4306824"/>
            <a:ext cx="21945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7479792" y="4261104"/>
            <a:ext cx="3959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서버-클라이언트 더미 왕복에서 액션 청크 수신 확인</a:t>
            </a:r>
            <a:endParaRPr lang="en-US" sz="1130" dirty="0"/>
          </a:p>
        </p:txBody>
      </p:sp>
      <p:sp>
        <p:nvSpPr>
          <p:cNvPr id="19" name="Shape 16"/>
          <p:cNvSpPr/>
          <p:nvPr/>
        </p:nvSpPr>
        <p:spPr>
          <a:xfrm>
            <a:off x="7132320" y="4965192"/>
            <a:ext cx="21945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7479792" y="4919472"/>
            <a:ext cx="3959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텔레옵 장비 확보(M1) 또는 도착일 8/12 이내 확정</a:t>
            </a:r>
            <a:endParaRPr lang="en-US" sz="1130" dirty="0"/>
          </a:p>
        </p:txBody>
      </p:sp>
      <p:sp>
        <p:nvSpPr>
          <p:cNvPr id="21" name="Text 18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8/12(수) – 8/14(금) · S6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드라이런 — 품질이 아니라 "배선"을 검증한다 (M2)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24328" cy="1737360"/>
          </a:xfrm>
          <a:prstGeom prst="roundRect">
            <a:avLst>
              <a:gd name="adj" fmla="val 289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04088" y="16002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04088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6152" y="1655064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수집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19456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10~20 에피소드</a:t>
            </a:r>
            <a:endParaRPr lang="en-US" sz="10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1개만 사용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45536" y="21031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55848" y="1417320"/>
            <a:ext cx="2624328" cy="1737360"/>
          </a:xfrm>
          <a:prstGeom prst="roundRect">
            <a:avLst>
              <a:gd name="adj" fmla="val 289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557016" y="16002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557016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1655064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+ config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57016" y="219456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LeRobot → openpi 연결</a:t>
            </a:r>
            <a:endParaRPr lang="en-US" sz="10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TrainConfig · norm stats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98464" y="21031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08776" y="1417320"/>
            <a:ext cx="2624328" cy="1737360"/>
          </a:xfrm>
          <a:prstGeom prst="roundRect">
            <a:avLst>
              <a:gd name="adj" fmla="val 289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9944" y="16002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9944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22008" y="1655064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학습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9944" y="219456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1~2시간(수천 스텝)</a:t>
            </a:r>
            <a:endParaRPr lang="en-US" sz="10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 하강만 확인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51392" y="210312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61704" y="1417320"/>
            <a:ext cx="2624328" cy="1737360"/>
          </a:xfrm>
          <a:prstGeom prst="roundRect">
            <a:avLst>
              <a:gd name="adj" fmla="val 289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62872" y="16002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27447D"/>
          </a:solidFill>
          <a:ln w="12700">
            <a:solidFill>
              <a:srgbClr val="2744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262872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74936" y="1655064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저속 배포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62872" y="219456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30% · 감시자 1인</a:t>
            </a:r>
            <a:endParaRPr lang="en-US" sz="10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E-stop 대기 상태로만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429000"/>
            <a:ext cx="11183112" cy="868680"/>
          </a:xfrm>
          <a:prstGeom prst="roundRect">
            <a:avLst>
              <a:gd name="adj" fmla="val 5789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31520" y="3602736"/>
            <a:ext cx="512064" cy="512064"/>
          </a:xfrm>
          <a:prstGeom prst="ellipse">
            <a:avLst/>
          </a:prstGeom>
          <a:solidFill>
            <a:srgbClr val="1E7F4F"/>
          </a:solidFill>
          <a:ln w="12700">
            <a:solidFill>
              <a:srgbClr val="1E7F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0" descr="/home/claude/icons/FaCircle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3725631"/>
            <a:ext cx="266273" cy="266273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17320" y="3520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F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드라이런 합격 기준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417320" y="3822192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로봇이 물체 방향으로 "접근하는 경향"만 보이면 합격 — 파지 성공 여부는 보지 않는다. 이 단계의 목적은 전체 파이프라인의 배선 검증이다.</a:t>
            </a:r>
            <a:endParaRPr lang="en-US" sz="1180" dirty="0"/>
          </a:p>
        </p:txBody>
      </p:sp>
      <p:sp>
        <p:nvSpPr>
          <p:cNvPr id="32" name="Shape 29"/>
          <p:cNvSpPr/>
          <p:nvPr/>
        </p:nvSpPr>
        <p:spPr>
          <a:xfrm>
            <a:off x="502920" y="4526280"/>
            <a:ext cx="11183112" cy="1371600"/>
          </a:xfrm>
          <a:prstGeom prst="roundRect">
            <a:avLst>
              <a:gd name="adj" fmla="val 3667"/>
            </a:avLst>
          </a:prstGeom>
          <a:solidFill>
            <a:srgbClr val="FDF1E2"/>
          </a:solidFill>
          <a:ln w="12700">
            <a:solidFill>
              <a:srgbClr val="FDF1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731520" y="4809744"/>
            <a:ext cx="548640" cy="548640"/>
          </a:xfrm>
          <a:prstGeom prst="ellipse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" descr="/home/claude/icons/FaGave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4" y="4941418"/>
            <a:ext cx="285293" cy="285293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463040" y="4681728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8/14(금) 판정 회의 — S6 세션 직후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1463040" y="5001768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시 → Phase 3 본 수집 계획 확정, 다음 날부터 수집 시작</a:t>
            </a:r>
            <a:endParaRPr lang="en-US" sz="1150" dirty="0"/>
          </a:p>
          <a:p>
            <a:pPr marL="127000" indent="-1270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 시 → 그 자리에서 결정: ① 태스크 단순화(지시문 2·물체 1) ② 텔레옵 방식 교체 ③ 학습 전량 H100 이관 — 주말을 복구에 사용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· 텔레옵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텔레옵 구성 두 가지 경로와 완료 기준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77256" cy="2148840"/>
          </a:xfrm>
          <a:prstGeom prst="roundRect">
            <a:avLst>
              <a:gd name="adj" fmla="val 234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icons/FaGamepa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67335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리더암 경로 (권장)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LeRobot 리더-팔로워 텔레옵 사용 — 리더암 움직임을 팔로워가 </a:t>
            </a:r>
            <a:r>
              <a:rPr lang="en-US" sz="113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</a:t>
            </a: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3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미러링</a:t>
            </a:r>
            <a:endParaRPr lang="en-US" sz="113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스텝당 최대 관절 이동 제한(안전 설정)을 반드시 켠 채 시작, 익숙해지면 완화</a:t>
            </a:r>
            <a:endParaRPr lang="en-US" sz="113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속도가 가장 빠르다(60~80ep/일)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208776" y="1371600"/>
            <a:ext cx="5477256" cy="2148840"/>
          </a:xfrm>
          <a:prstGeom prst="roundRect">
            <a:avLst>
              <a:gd name="adj" fmla="val 234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37376" y="1600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/home/claude/icons/FaComputerMou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17099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50024" y="167335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스페이스마우스 경로 (플랜 B)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83096" y="2240280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EE 델타 명령 → IK → 관절 명령, 제어 주기 20Hz 내외 · 그리퍼는 </a:t>
            </a:r>
            <a:r>
              <a:rPr lang="en-US" sz="113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</a:t>
            </a: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13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토글</a:t>
            </a:r>
            <a:endParaRPr lang="en-US" sz="113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첫날 빈 테이블에서 30분 이상 조작 연습 후 수집 시작</a:t>
            </a:r>
            <a:endParaRPr lang="en-US" sz="113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속도는 절반 수준(30~40ep/일) — 일정에 +1일 반영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502920" y="3749040"/>
            <a:ext cx="11183112" cy="731520"/>
          </a:xfrm>
          <a:prstGeom prst="roundRect">
            <a:avLst>
              <a:gd name="adj" fmla="val 6875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777240" y="374904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B33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금지 — 시연자 손·몸이 두 카메라 화면에 절대 들어가지 않는 위치에서 조작한다. 매 에피소드 시작 전 화면을 눈으로 확인.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02920" y="470916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완료 기준 (Exit)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" y="5111496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832104" y="50749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데이터 v1(10~20ep) LeRobot 포맷 저장·백업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6172200" y="5111496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6501384" y="50749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config로 norm stats + 미니 학습 완료</a:t>
            </a:r>
            <a:endParaRPr lang="en-US" sz="1130" dirty="0"/>
          </a:p>
        </p:txBody>
      </p:sp>
      <p:sp>
        <p:nvSpPr>
          <p:cNvPr id="21" name="Shape 17"/>
          <p:cNvSpPr/>
          <p:nvPr/>
        </p:nvSpPr>
        <p:spPr>
          <a:xfrm>
            <a:off x="502920" y="5614416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832104" y="5577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체크포인트 실기 저속 실행 · 접근 경향 관찰</a:t>
            </a:r>
            <a:endParaRPr lang="en-US" sz="1130" dirty="0"/>
          </a:p>
        </p:txBody>
      </p:sp>
      <p:sp>
        <p:nvSpPr>
          <p:cNvPr id="23" name="Shape 19"/>
          <p:cNvSpPr/>
          <p:nvPr/>
        </p:nvSpPr>
        <p:spPr>
          <a:xfrm>
            <a:off x="6172200" y="5614416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6501384" y="5577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프로토콜·평가 프로토콜 문서 확정</a:t>
            </a:r>
            <a:endParaRPr lang="en-US" sz="1130" dirty="0"/>
          </a:p>
        </p:txBody>
      </p:sp>
      <p:sp>
        <p:nvSpPr>
          <p:cNvPr id="25" name="Text 21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8/14(금) – 8/18(화)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데이터 수집 — 목표량과 리듬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023360" cy="2286000"/>
          </a:xfrm>
          <a:prstGeom prst="roundRect">
            <a:avLst>
              <a:gd name="adj" fmla="val 22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목표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120–200</a:t>
            </a: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에피소드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지시문당 40~60개, 지시문별 균형 ±20% 이내. 에피소드 10~20초, 시작·종료는 홈 자세.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2240280" cy="1051560"/>
          </a:xfrm>
          <a:prstGeom prst="roundRect">
            <a:avLst>
              <a:gd name="adj" fmla="val 478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983480" y="1481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리더암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83480" y="17373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60~80 ep/일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196328" y="1371600"/>
            <a:ext cx="2240280" cy="1051560"/>
          </a:xfrm>
          <a:prstGeom prst="roundRect">
            <a:avLst>
              <a:gd name="adj" fmla="val 478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79208" y="1481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스페이스마우스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79208" y="17373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30~40 ep/일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592056" y="1371600"/>
            <a:ext cx="2240280" cy="1051560"/>
          </a:xfrm>
          <a:prstGeom prst="roundRect">
            <a:avLst>
              <a:gd name="adj" fmla="val 478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774936" y="1481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조작자 교대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774936" y="17373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2시간마다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800600" y="2606040"/>
            <a:ext cx="7022592" cy="105156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0" y="2715768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8/15(토)~8/16(일)은 버퍼 — 평일 진도가 계획대로면 휴식, 밀리면 선택 수집(반드시 2인 이상). </a:t>
            </a:r>
            <a:r>
              <a:rPr lang="ko-KR" alt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8/18(화) 저녁 데이터 v2(본세트) 동결 후 본 학습 잡 제출.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502920" y="397764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학습 리듬 — 매일 한 번, 데이터가 모델이 되게 한다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343400"/>
            <a:ext cx="3575304" cy="1234440"/>
          </a:xfrm>
          <a:prstGeom prst="roundRect">
            <a:avLst>
              <a:gd name="adj" fmla="val 4074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31520" y="455371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4553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4480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그날까지 누적 데이터로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 (5090 또는 H100)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096512" y="48006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306824" y="4343400"/>
            <a:ext cx="3575304" cy="1234440"/>
          </a:xfrm>
          <a:prstGeom prst="roundRect">
            <a:avLst>
              <a:gd name="adj" fmla="val 4074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35424" y="455371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35424" y="4553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41264" y="4480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 곡선 확인 + 간단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롤아웃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5회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7900416" y="48006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110728" y="4343400"/>
            <a:ext cx="3575304" cy="1234440"/>
          </a:xfrm>
          <a:prstGeom prst="roundRect">
            <a:avLst>
              <a:gd name="adj" fmla="val 4074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8339328" y="455371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339328" y="4553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45168" y="4480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v2.1, v2.2 … 버전 태깅 — 어떤 학습이 어떤 데이터를 썼는지 항상 추적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502920" y="5760720"/>
            <a:ext cx="11183112" cy="502920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77240" y="576072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1E7F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 — 합격 120ep 이상 · 이중 백업 · norm stats 재계산 · 본 학습(30k 스텝 기준) 잡 제출 완료.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· 프로토콜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프로토콜 ①~⑥과 품질 기준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583680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67512" y="15087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6751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444752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전 기준 사진과 카메라·조명·테이블 상태 대조 — 어긋나면 복원 후 시작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02920" y="2130552"/>
            <a:ext cx="6583680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67512" y="22677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7512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203704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 초기 위치: 작업영역 3×4 그리드 셀 순환 배정 + 셀 안 ±2~3cm 지터. 특정 위치 편중 금지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02920" y="2889504"/>
            <a:ext cx="6583680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67512" y="30266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7512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962656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지시문: 고정 템플릿 문구를 에피소드 메타에 기록, 지시문별 수량 균형 로테이션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3648456"/>
            <a:ext cx="6583680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67512" y="3785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7512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721608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궤적: 자연스럽고 일정한 속도, 불필요한 왕복·머뭇거림 최소화. 시작·종료는 홈 자세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02920" y="4407408"/>
            <a:ext cx="6583680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67512" y="45445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67512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480560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폐기 태그: 실패 시연 · 손/몸 노출 · 프레임 드랍 · 물체 낙하 에피소드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02920" y="5166360"/>
            <a:ext cx="6583680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67512" y="5303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67512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에피소드마다 NAS/클라우드 이중 백업 + 수집 로그(수량/지시문/특이사항) 기록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406640" y="1371600"/>
            <a:ext cx="4279392" cy="2103120"/>
          </a:xfrm>
          <a:prstGeom prst="roundRect">
            <a:avLst>
              <a:gd name="adj" fmla="val 2391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607808" y="1572768"/>
            <a:ext cx="420624" cy="420624"/>
          </a:xfrm>
          <a:prstGeom prst="ellipse">
            <a:avLst/>
          </a:prstGeom>
          <a:solidFill>
            <a:srgbClr val="1E7F4F"/>
          </a:solidFill>
          <a:ln w="12700">
            <a:solidFill>
              <a:srgbClr val="1E7F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0" descr="/home/claude/icons/FaCircle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758" y="1673718"/>
            <a:ext cx="218724" cy="21872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156448" y="164592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7F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합격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635240" y="210312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성공으로 종료 · 두 카메라에 물체와 그리퍼가 안정적으로 보임 · 길이 10~20초 · 지시문 기록 정확 · 프레임 드랍 없음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406640" y="3639312"/>
            <a:ext cx="4279392" cy="2103120"/>
          </a:xfrm>
          <a:prstGeom prst="roundRect">
            <a:avLst>
              <a:gd name="adj" fmla="val 239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7607808" y="3840480"/>
            <a:ext cx="420624" cy="420624"/>
          </a:xfrm>
          <a:prstGeom prst="ellipse">
            <a:avLst/>
          </a:prstGeom>
          <a:solidFill>
            <a:srgbClr val="B3352B"/>
          </a:solidFill>
          <a:ln w="12700">
            <a:solidFill>
              <a:srgbClr val="B335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" descr="/home/claude/icons/FaBa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758" y="3941430"/>
            <a:ext cx="218724" cy="21872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156448" y="391363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33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7635240" y="4370832"/>
            <a:ext cx="3672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종료 · 손 노출 · 과도한 흔들림/급가속 · 기록 오류 · 지시문-행동 불일치(지시는 빨강인데 파랑을 집음)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· 8/19(수, S7) – 8/23(일)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학습–평가–개선 사이클 (1~1.5일 × 2~3회)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03120" cy="868680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최신 체크포인트 배포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2551176" y="170992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88920" y="1463040"/>
            <a:ext cx="2103120" cy="8686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88920" y="14630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고정 조건 평가 20회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837176" y="170992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74920" y="1463040"/>
            <a:ext cx="2103120" cy="868680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74920" y="14630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실패 유형 분석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123176" y="170992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60920" y="1463040"/>
            <a:ext cx="2103120" cy="868680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60920" y="14630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보강 수집 20~40ep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9409176" y="170992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646920" y="1463040"/>
            <a:ext cx="2103120" cy="868680"/>
          </a:xfrm>
          <a:prstGeom prst="roundRect">
            <a:avLst>
              <a:gd name="adj" fmla="val 50000"/>
            </a:avLst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646920" y="14630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재학습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 flipH="1">
            <a:off x="1554480" y="2560320"/>
            <a:ext cx="9079992" cy="0"/>
          </a:xfrm>
          <a:prstGeom prst="line">
            <a:avLst/>
          </a:prstGeom>
          <a:noFill/>
          <a:ln w="22225">
            <a:solidFill>
              <a:srgbClr val="2E5395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67919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8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→ ① 반복 — 실패가 몰리는 위치·물체의 데이터를 보강하는 것이 성공률을 가장 빨리 올린다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02920" y="3063240"/>
            <a:ext cx="5477256" cy="2194560"/>
          </a:xfrm>
          <a:prstGeom prst="roundRect">
            <a:avLst>
              <a:gd name="adj" fmla="val 229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0" descr="/home/claude/icons/FaClipboard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401568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44168" y="336499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프로토콜 (매 사이클 동일)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77240" y="3931920"/>
            <a:ext cx="4928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위치 세트 20개 = 수집 분포 안쪽 15 + 경계 5 (좌표를 시트에 기록, 매번 동일 재현)</a:t>
            </a:r>
            <a:endParaRPr lang="en-US" sz="112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로테이션 · 성공 정의: 60초 내 지정 용기 안 + 정지 종료</a:t>
            </a:r>
            <a:endParaRPr lang="en-US" sz="112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시행을 기록 양식(부록 E)으로 남기고 영상 촬영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6208776" y="3063240"/>
            <a:ext cx="5477256" cy="2194560"/>
          </a:xfrm>
          <a:prstGeom prst="roundRect">
            <a:avLst>
              <a:gd name="adj" fmla="val 229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437376" y="329184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" descr="/home/claude/icons/FaChartLi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340156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050024" y="336499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6483096" y="3931920"/>
            <a:ext cx="4928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S7(8/19 16시)에서 그 시점의 최선 체크포인트로 언어 지시 조작 중간 시연</a:t>
            </a:r>
            <a:endParaRPr lang="en-US" sz="112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사이클별 성공률을 기록해 곡선으로 관리 — 개선이 멈추면 처방 표(다음 장) 적용</a:t>
            </a:r>
            <a:endParaRPr lang="en-US" sz="1120" dirty="0"/>
          </a:p>
          <a:p>
            <a:pPr marL="127000" indent="-127000" algn="l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2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Exit(8/23 일): 성공률 70% 이상 체크포인트 확보. 미달 시 그날 저녁 축소 시나리오 전환 결정</a:t>
            </a:r>
            <a:endParaRPr lang="en-US" sz="1120" dirty="0"/>
          </a:p>
        </p:txBody>
      </p:sp>
      <p:sp>
        <p:nvSpPr>
          <p:cNvPr id="30" name="Text 26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· 개선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유형별 처방과 ACT 백업 정책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720840" cy="457200"/>
          </a:xfrm>
          <a:prstGeom prst="roundRect">
            <a:avLst>
              <a:gd name="adj" fmla="val 11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유형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0" y="1371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83664"/>
            <a:ext cx="6720840" cy="749808"/>
          </a:xfrm>
          <a:prstGeom prst="roundRect">
            <a:avLst>
              <a:gd name="adj" fmla="val 670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956816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실패 (엉뚱한 곳으로)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657600" y="1956816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6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위치 셀 중심 보강 수집 · 카메라 기준 사진 대조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502920" y="2724912"/>
            <a:ext cx="6720840" cy="749808"/>
          </a:xfrm>
          <a:prstGeom prst="roundRect">
            <a:avLst>
              <a:gd name="adj" fmla="val 670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279806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 실패 (집다 놓침)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657600" y="2798064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6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 순간이 명확한 데모 보강 · 물체를 스펀지 큐브로 교체 검토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6720840" cy="749808"/>
          </a:xfrm>
          <a:prstGeom prst="roundRect">
            <a:avLst>
              <a:gd name="adj" fmla="val 670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6393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혼동 (다른 색을 집음)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657600" y="3639312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6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지시문별 수량 균형 보강 · 수집~평가 문구 완전 통일 확인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502920" y="4407408"/>
            <a:ext cx="6720840" cy="749808"/>
          </a:xfrm>
          <a:prstGeom prst="roundRect">
            <a:avLst>
              <a:gd name="adj" fmla="val 670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동작 (급발진·진동)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3657600" y="4480560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6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 stats 재계산 후 재학습 · 클라이언트 클리핑/속도 제한 점검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02920" y="5248656"/>
            <a:ext cx="6720840" cy="749808"/>
          </a:xfrm>
          <a:prstGeom prst="roundRect">
            <a:avLst>
              <a:gd name="adj" fmla="val 670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" y="532180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전반적 무반응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657600" y="532180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6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 곡선·스텝 수 확인 · 서빙 config–체크포인트 짝 확인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7543800" y="1371600"/>
            <a:ext cx="4142232" cy="4663440"/>
          </a:xfrm>
          <a:prstGeom prst="roundRect">
            <a:avLst>
              <a:gd name="adj" fmla="val 121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772400" y="1600200"/>
            <a:ext cx="493776" cy="493776"/>
          </a:xfrm>
          <a:prstGeom prst="ellipse">
            <a:avLst/>
          </a:prstGeom>
          <a:solidFill>
            <a:srgbClr val="27447D"/>
          </a:solidFill>
          <a:ln w="12700">
            <a:solidFill>
              <a:srgbClr val="2744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0" descr="/home/claude/icons/FaShieldHalve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906" y="1718706"/>
            <a:ext cx="256764" cy="25676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412480" y="1682496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백업 정책 (보험)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818120" y="2331720"/>
            <a:ext cx="3593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C가 동일 데이터로 LeRobot ACT를 5080#2에서 병행 학습</a:t>
            </a:r>
            <a:endParaRPr lang="en-US" sz="1130" dirty="0"/>
          </a:p>
          <a:p>
            <a:pPr marL="127000" indent="-127000" algn="l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π0가 데모 수준에 못 미칠 때의 보험</a:t>
            </a:r>
            <a:endParaRPr lang="en-US" sz="1130" dirty="0"/>
          </a:p>
          <a:p>
            <a:pPr marL="127000" indent="-127000" algn="l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"π0(언어 조건부) vs ACT(단일 태스크)" 비교 자체가 좋은 데모 콘텐츠</a:t>
            </a:r>
            <a:endParaRPr lang="en-US" sz="1130" dirty="0"/>
          </a:p>
          <a:p>
            <a:pPr marL="127000" indent="-127000" algn="l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ACT는 지시문 중 1개 태스크만 전담시킨다</a:t>
            </a:r>
            <a:endParaRPr lang="en-US" sz="1130" dirty="0"/>
          </a:p>
        </p:txBody>
      </p:sp>
      <p:sp>
        <p:nvSpPr>
          <p:cNvPr id="27" name="Text 24"/>
          <p:cNvSpPr/>
          <p:nvPr/>
        </p:nvSpPr>
        <p:spPr>
          <a:xfrm>
            <a:off x="7818120" y="5257800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경우에도 "라이브 0회" 데모는 하지 않는다.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 · 8/24(월) – 8/28(금)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동결과 리허설 — "하나만 더 고치자"가 데모를 망친다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77256" cy="2377440"/>
          </a:xfrm>
          <a:prstGeom prst="roundRect">
            <a:avLst>
              <a:gd name="adj" fmla="val 211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icons/Fa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67335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동결 원칙 (M3 · 8/25 화 18시)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49286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성공률 상위 체크포인트 2~3개 선정 → 로컬 + 클라우드 이중 백업</a:t>
            </a:r>
            <a:endParaRPr lang="en-US" sz="1130" dirty="0"/>
          </a:p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코드 · 환경(카메라/조명/테이블/물체) · 시나리오 변경 금지</a:t>
            </a:r>
            <a:endParaRPr lang="en-US" sz="1130" dirty="0"/>
          </a:p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8/24~25는 동일 조건 반복 실행으로 안정성만 확인(각 지시문 5회 이상)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208776" y="1371600"/>
            <a:ext cx="5477256" cy="2377440"/>
          </a:xfrm>
          <a:prstGeom prst="roundRect">
            <a:avLst>
              <a:gd name="adj" fmla="val 211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37376" y="1600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/home/claude/icons/FaClapperbo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17099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50024" y="167335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8/26(수) 리허설 — 학생 자체 진행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83096" y="2240280"/>
            <a:ext cx="49286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지도교수는 부산 외부 일정 — 본 데모와 동일한 큐시트로 처음부터 끝까지 2회 통주</a:t>
            </a:r>
            <a:endParaRPr lang="en-US" sz="1130" dirty="0"/>
          </a:p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시행 영상 촬영·기록, 문제는 이슈 리스트(현상/재현 조건/심각도)</a:t>
            </a:r>
            <a:r>
              <a:rPr lang="en-US" sz="113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13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정리해</a:t>
            </a: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당일 저녁 공유</a:t>
            </a:r>
            <a:endParaRPr lang="en-US" sz="1130" dirty="0"/>
          </a:p>
          <a:p>
            <a:pPr marL="127000" indent="-1270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8/27(목) 지도교수 점검 — 새 기능 추가 없이 이슈 수정과 재확인만</a:t>
            </a:r>
            <a:endParaRPr lang="en-US" sz="1130" dirty="0"/>
          </a:p>
        </p:txBody>
      </p:sp>
      <p:sp>
        <p:nvSpPr>
          <p:cNvPr id="14" name="Text 10"/>
          <p:cNvSpPr/>
          <p:nvPr/>
        </p:nvSpPr>
        <p:spPr>
          <a:xfrm>
            <a:off x="502920" y="397764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큐시트 (8/28 금 · 약 8분)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" y="4343400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502920" y="4343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시스템 소개 2'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377440" y="4343400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2377440" y="4343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라이브 지시 1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251960" y="4343400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4251960" y="4343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라이브 지시 2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26480" y="4343400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6126480" y="4343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관객 개입 + 지시 3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01000" y="4343400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8001000" y="4343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ACT 비교 (옵션)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9875520" y="4343400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27447D"/>
          </a:solidFill>
          <a:ln w="12700">
            <a:solidFill>
              <a:srgbClr val="2744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/>
          <p:nvPr/>
        </p:nvSpPr>
        <p:spPr>
          <a:xfrm>
            <a:off x="9875520" y="4343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마무리·향후 계획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02920" y="5166360"/>
            <a:ext cx="1118311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777240" y="5285232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 규칙: 라이브 시행당 1회. 2회 실패 시 자연스럽게 다음 순서로 — 실패는 숨기지 않고 마무리에서 언급(그게 더 좋은 데모다)</a:t>
            </a:r>
            <a:endParaRPr lang="en-US" sz="1130" dirty="0"/>
          </a:p>
          <a:p>
            <a:pPr marL="127000" indent="-127000" algn="l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백업: 리허설 성공 영상을 노트북에 준비 — 시스템 장애 시 영상 시연으로 전환</a:t>
            </a:r>
            <a:endParaRPr lang="en-US" sz="1130" dirty="0"/>
          </a:p>
        </p:txBody>
      </p:sp>
      <p:sp>
        <p:nvSpPr>
          <p:cNvPr id="29" name="Text 25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 · D-DAY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당일 운영 타임라인 (8/28 금)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67512" y="1554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67512" y="1554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D-90분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490472"/>
            <a:ext cx="8074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부팅 · 기준 사진 대조(카메라/조명/테이블) · CAN·로봇 홈 복귀 확인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10268712" y="149047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11183112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67512" y="2313432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7512" y="23134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D-60분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249424"/>
            <a:ext cx="8074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 server 기동 · 체크포인트 로드 확인 · 워밍업 실행 3회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10268712" y="224942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35224"/>
            <a:ext cx="11183112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67512" y="3072384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7512" y="307238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D-30분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3008376"/>
            <a:ext cx="8074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물체·용기 배치 · 큐시트 리딩 · 백업 영상·발표자료 확인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10268712" y="3008376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694176"/>
            <a:ext cx="11183112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67512" y="3831336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67512" y="383133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767328"/>
            <a:ext cx="8074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큐시트대로 진행 · 전 시행 기록·촬영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10268712" y="376732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453128"/>
            <a:ext cx="11183112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67512" y="4590288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67512" y="459028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4526280"/>
            <a:ext cx="8074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3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로그·영상 백업 · 장비 원위치 · 회고 메모(잘된 점/개선점 각 3개)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10268712" y="45262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5349240"/>
            <a:ext cx="11183112" cy="868680"/>
          </a:xfrm>
          <a:prstGeom prst="roundRect">
            <a:avLst>
              <a:gd name="adj" fmla="val 5789"/>
            </a:avLst>
          </a:prstGeom>
          <a:solidFill>
            <a:srgbClr val="FDF1E2"/>
          </a:solidFill>
          <a:ln w="12700">
            <a:solidFill>
              <a:srgbClr val="FDF1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31520" y="5513832"/>
            <a:ext cx="530352" cy="530352"/>
          </a:xfrm>
          <a:prstGeom prst="ellipse">
            <a:avLst/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0" descr="/home/claude/icons/FaArrowsDownToLin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04" y="5641116"/>
            <a:ext cx="275783" cy="275783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63040" y="5431536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5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축소 시나리오 (8/23 성공률 70% 미달 시)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463040" y="5733288"/>
            <a:ext cx="994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2개 · 초기 위치 고정 3개로 줄여 성공률을 끌어올린 버전으로 라이브 구성. ACT를 라이브 주력으로, π0는 "언어 반응" 시연 1개 + 학습 과정 </a:t>
            </a:r>
            <a:r>
              <a:rPr lang="en-US" sz="110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발표로</a:t>
            </a: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10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비중</a:t>
            </a: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이동.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SOP — 4중 방벽 (자율 실행은 항상 이 순서로 지켜진다)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24328" cy="3017520"/>
          </a:xfrm>
          <a:prstGeom prst="roundRect">
            <a:avLst>
              <a:gd name="adj" fmla="val 191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22376" y="1636776"/>
            <a:ext cx="475488" cy="4754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icons/FaCod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93" y="1750893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225856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SW 클리핑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22376" y="2624328"/>
            <a:ext cx="21854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클라이언트단에서 관절 한계 · 작업영역 박스 · 스텝당 최대 이동량을 강제 클리핑. 서버(정책)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출력은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신뢰하지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않는다.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355848" y="1417320"/>
            <a:ext cx="2624328" cy="3017520"/>
          </a:xfrm>
          <a:prstGeom prst="roundRect">
            <a:avLst>
              <a:gd name="adj" fmla="val 191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575304" y="1636776"/>
            <a:ext cx="475488" cy="4754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/home/claude/icons/FaGaugeSimp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421" y="1750893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225856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저속 모드 30%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75304" y="2624328"/>
            <a:ext cx="21854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체크포인트의 첫 실행은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30%. 20회 무사고 이후에만 정상 속도로 상향.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208776" y="1417320"/>
            <a:ext cx="2624328" cy="3017520"/>
          </a:xfrm>
          <a:prstGeom prst="roundRect">
            <a:avLst>
              <a:gd name="adj" fmla="val 191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428232" y="1636776"/>
            <a:ext cx="475488" cy="4754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/home/claude/icons/FaHan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349" y="1750893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8232" y="225856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E-stop 이중화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28232" y="2624328"/>
            <a:ext cx="21854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E-stop(키보드 스페이스, </a:t>
            </a:r>
            <a:r>
              <a:rPr lang="ko-KR" alt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정지)을 모든 실행 스크립트에 내장 + 하드 E-stop 위치 전원 숙지. 자율 실행 중 감시자 1인이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올린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상태 유지.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9061704" y="1417320"/>
            <a:ext cx="2624328" cy="3017520"/>
          </a:xfrm>
          <a:prstGeom prst="roundRect">
            <a:avLst>
              <a:gd name="adj" fmla="val 191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9281160" y="1636776"/>
            <a:ext cx="475488" cy="47548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/home/claude/icons/FaPersonMilitaryPointin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5277" y="1750893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225856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접근 통제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281160" y="2624328"/>
            <a:ext cx="21854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실행 중 작업영역(테이프 라인) 안 신체·물건 반입 금지. 물체 재배치는 반드시 정지 확인 후.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02920" y="4709160"/>
            <a:ext cx="11183112" cy="777240"/>
          </a:xfrm>
          <a:prstGeom prst="roundRect">
            <a:avLst>
              <a:gd name="adj" fmla="val 647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/>
          <p:nvPr/>
        </p:nvSpPr>
        <p:spPr>
          <a:xfrm>
            <a:off x="777240" y="47091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B33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— 테이블 낙하 패드 설치 · 로봇 단독 가동 금지(항상 2인 이상) · 이상음/이상 발열 시 즉시 중단 후 보고.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02920" y="5669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안전 4중 방벽 SOP(S7 자료)에 본 트랙 규칙을 그대로 얹어 운영한다.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대응표 — 각 리스크에는 "결정 시한"이 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3112" cy="457200"/>
          </a:xfrm>
          <a:prstGeom prst="roundRect">
            <a:avLst>
              <a:gd name="adj" fmla="val 11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794760" y="13716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28700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시한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11183112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19385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리더암 미확보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94760" y="193852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6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스페이스마우스 EE 텔레옵으로 즉시 전환 · 수집 일정 +1일 반영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10287000" y="202996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287000" y="20299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8/11 (화)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633472"/>
            <a:ext cx="11183112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26883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5090 학습 불가 (Blackwell)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268833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6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전량 H100 이관 · 로컬은 추론/시각화 전담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10287000" y="2779776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287000" y="27797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8/10 (월)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11183112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1520" y="343814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 VRAM 초과 (OOM)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4760" y="343814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6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축소 → fsdp_devices 분할 → H100 순 전환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10287000" y="3529584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287000" y="35295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133088"/>
            <a:ext cx="11183112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31520" y="41879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 불량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4760" y="418795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6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학습에서 접근 경향 전무 시 프로토콜 위반 점검 · 텔레옵 재훈련 후 재수집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10287000" y="4279392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287000" y="42793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8/15 (토)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4882896"/>
            <a:ext cx="11183112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31520" y="4937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성능 미달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94760" y="49377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6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축소 시나리오 + ACT 주력 전환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10287000" y="50292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028700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8/23 (일)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5632704"/>
            <a:ext cx="11183112" cy="658368"/>
          </a:xfrm>
          <a:prstGeom prst="roundRect">
            <a:avLst>
              <a:gd name="adj" fmla="val 76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31520" y="56875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고장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94760" y="568756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6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로봇 이식은 데이터 재수집 필요로 사실상 불가 — 취급 규칙 준수로 예방. 카메라는 위치 재현 후 소량 보강 수집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10287000" y="57790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C56A00"/>
          </a:solidFill>
          <a:ln w="12700">
            <a:solidFill>
              <a:srgbClr val="C56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0287000" y="5779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즉시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π0 첫 실기 구현 실행 가이드 · 의료로봇연구실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475720" y="6528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오늘(8/10) 바로 시작할 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3575304" cy="2103120"/>
          </a:xfrm>
          <a:prstGeom prst="roundRect">
            <a:avLst>
              <a:gd name="adj" fmla="val 2391"/>
            </a:avLst>
          </a:prstGeom>
          <a:solidFill>
            <a:srgbClr val="27447D"/>
          </a:solidFill>
          <a:ln w="12700">
            <a:solidFill>
              <a:srgbClr val="2744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58952" y="185623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5895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947672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리더암 구매·대여 문의 발송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2606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중 위고/AgileX — 전체 일정의 임계 경로 (M1)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600200"/>
            <a:ext cx="3575304" cy="2103120"/>
          </a:xfrm>
          <a:prstGeom prst="roundRect">
            <a:avLst>
              <a:gd name="adj" fmla="val 2391"/>
            </a:avLst>
          </a:prstGeom>
          <a:solidFill>
            <a:srgbClr val="27447D"/>
          </a:solidFill>
          <a:ln w="12700">
            <a:solidFill>
              <a:srgbClr val="2744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62856" y="185623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62856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21224" y="1947672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5090 스모크 테스트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62856" y="2606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중 ①②③ 통과 확인 — 실패 시 당일 H100 전환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10728" y="1600200"/>
            <a:ext cx="3575304" cy="2103120"/>
          </a:xfrm>
          <a:prstGeom prst="roundRect">
            <a:avLst>
              <a:gd name="adj" fmla="val 2391"/>
            </a:avLst>
          </a:prstGeom>
          <a:solidFill>
            <a:srgbClr val="27447D"/>
          </a:solidFill>
          <a:ln w="12700">
            <a:solidFill>
              <a:srgbClr val="2744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366760" y="185623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6676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25128" y="1947672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로봇·카메라 브링업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606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Piper CAN / RM75 SDK / 리얼센스 · </a:t>
            </a:r>
            <a:r>
              <a:rPr lang="en-US" sz="1150" dirty="0" err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</a:t>
            </a: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150" dirty="0" err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브래킷</a:t>
            </a: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프린트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 8/11 텔레옵 확정      M2  8/14 드라이런 완주      M3  8/25 데모 동결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4800600"/>
            <a:ext cx="11183112" cy="0"/>
          </a:xfrm>
          <a:prstGeom prst="line">
            <a:avLst/>
          </a:prstGeom>
          <a:noFill/>
          <a:ln w="12700">
            <a:solidFill>
              <a:srgbClr val="2744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" y="5029200"/>
            <a:ext cx="11183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오전 10분 스탠드업 — 각 Phase의 Exit 체크리스트가 진도의 기준</a:t>
            </a:r>
            <a:endParaRPr lang="en-US" sz="1300" dirty="0"/>
          </a:p>
          <a:p>
            <a:pPr marL="127000" indent="-127000" algn="l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절차·명령어·양식은 실행 가이드 문서(DOCX)를 항상 함께 참조</a:t>
            </a:r>
            <a:endParaRPr lang="en-US" sz="1300" dirty="0"/>
          </a:p>
          <a:p>
            <a:pPr marL="127000" indent="-127000" algn="l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블로커는 당일 해소가 원칙 — 막히면 바로 공유한다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4167</Words>
  <Application>Microsoft Macintosh PowerPoint</Application>
  <PresentationFormat>와이드스크린</PresentationFormat>
  <Paragraphs>535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Hyunsoo Woo</cp:lastModifiedBy>
  <cp:revision>7</cp:revision>
  <dcterms:created xsi:type="dcterms:W3CDTF">2026-08-10T06:12:48Z</dcterms:created>
  <dcterms:modified xsi:type="dcterms:W3CDTF">2026-08-10T08:00:35Z</dcterms:modified>
</cp:coreProperties>
</file>