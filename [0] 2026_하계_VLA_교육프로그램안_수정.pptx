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85"/>
    <p:restoredTop sz="94610"/>
  </p:normalViewPr>
  <p:slideViewPr>
    <p:cSldViewPr snapToGrid="0" snapToObjects="1">
      <p:cViewPr varScale="1">
        <p:scale>
          <a:sx n="168" d="100"/>
          <a:sy n="168" d="100"/>
        </p:scale>
        <p:origin x="248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3259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하계 · </a:t>
            </a:r>
            <a:r>
              <a:rPr lang="en-US" sz="1500" dirty="0" err="1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학부연구생</a:t>
            </a:r>
            <a:r>
              <a:rPr lang="en-US" sz="15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5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역량강화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17373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VLA 교육 프로그램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Vision-Language-Action : 논문 스터디에서 실기체 데모까지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 : 7/29 ~ 8/28 · 정규 세션 8회 (16:00~)  |  참여 : 허지윤 · 김하연 · 나유빈 (3명)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A9D1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 : RealMan RM75 (7자유도 로봇팔) + Unitree G1 (휴머노이드)  |  전제 : Python · ROS2 활용 가능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세종대학교 AI로봇학과 · 의료로봇연구실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프로그램 개요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14032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하계 VLA 교육 프로그램 (7. 29. ~ 8. 28.)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74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VLA, WHY NOW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읽고, 만들고, 로봇에 얹는 5주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11183112" cy="1078992"/>
          </a:xfrm>
          <a:prstGeom prst="roundRect">
            <a:avLst>
              <a:gd name="adj" fmla="val 5085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77240" y="1792224"/>
            <a:ext cx="603504" cy="603504"/>
          </a:xfrm>
          <a:prstGeom prst="ellipse">
            <a:avLst/>
          </a:prstGeom>
          <a:solidFill>
            <a:srgbClr val="2E74B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77240" y="1792224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645920" y="16459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VLA인가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0" y="1627632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VLA(Vision-Language-Action)는 "보고, 이해하고, 행동하는" 로봇 파운데이션 모델의 최전선입니다. 연구실의 휴머노이드 loco-manipulation · 힘 기반 조작 연구가 향할 방향이자, 2027 경진대회·논문의 핵심 소재입니다.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788920"/>
            <a:ext cx="11183112" cy="1078992"/>
          </a:xfrm>
          <a:prstGeom prst="roundRect">
            <a:avLst>
              <a:gd name="adj" fmla="val 5085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777240" y="3026664"/>
            <a:ext cx="603504" cy="603504"/>
          </a:xfrm>
          <a:prstGeom prst="ellipse">
            <a:avLst/>
          </a:prstGeom>
          <a:solidFill>
            <a:srgbClr val="2E74B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77240" y="3026664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645920" y="2880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지금인가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14800" y="2862072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OpenVLA·π0·GR00T 등 공개 모델과 LeRobot 생태계로, 연구실 규모의 GPU와 보유 실기체(RM75·G1)만으로 파인튜닝 → 실기체 실행의 전 과정을 직접 해볼 수 있는 시점이 되었습니다.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023360"/>
            <a:ext cx="11183112" cy="1078992"/>
          </a:xfrm>
          <a:prstGeom prst="roundRect">
            <a:avLst>
              <a:gd name="adj" fmla="val 5085"/>
            </a:avLst>
          </a:prstGeom>
          <a:solidFill>
            <a:srgbClr val="DCE9F7"/>
          </a:solidFill>
          <a:ln w="12700">
            <a:solidFill>
              <a:srgbClr val="DCE9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77240" y="4261104"/>
            <a:ext cx="603504" cy="603504"/>
          </a:xfrm>
          <a:prstGeom prst="ellipse">
            <a:avLst/>
          </a:prstGeom>
          <a:solidFill>
            <a:srgbClr val="2E74B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77240" y="4261104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645920" y="41148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여러분인가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114800" y="4096512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Python·ROS2가 익숙한 세 사람에게 필요한 것은 기초 교육이 아닙니다 — 최신 연구를 읽고, 돌려보고, 우리 로봇에 얹어보는 경험입니다. 3인 소수 정예이므로 전원이 전 과정을 손으로 통과합니다.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5349240"/>
            <a:ext cx="11183112" cy="731520"/>
          </a:xfrm>
          <a:prstGeom prst="roundRect">
            <a:avLst>
              <a:gd name="adj" fmla="val 7500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63880" y="544068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55A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구조 (3단계)  </a:t>
            </a:r>
            <a:r>
              <a:rPr lang="en-US" sz="13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 논문 스터디(세션 1~4) → 2단계 데이터 수집·파인튜닝 실습(세션 4~6) → 3단계 실기체 챌린지(세션 7~8) &amp; </a:t>
            </a:r>
            <a:r>
              <a:rPr lang="en-US" sz="13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8/28 통합 데모</a:t>
            </a:r>
            <a:endParaRPr lang="en-US" sz="13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교육 일정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14032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하계 VLA 교육 프로그램 (7. 29. ~ 8. 28.)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74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SCHEDULE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정규 세션 8회 — 매회 16:00 시작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234569"/>
              </p:ext>
            </p:extLst>
          </p:nvPr>
        </p:nvGraphicFramePr>
        <p:xfrm>
          <a:off x="502920" y="1463040"/>
          <a:ext cx="11183112" cy="40233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34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회차 · 일자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S1  7/29 (수)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스터디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OT (발표 배정·환경 안내) + 세미나 ① RT-1 · RT-2 — VLA </a:t>
                      </a:r>
                      <a:r>
                        <a:rPr lang="en-US" sz="1150" dirty="0" err="1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개념</a:t>
                      </a:r>
                      <a:r>
                        <a:rPr lang="en-US" sz="11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정립</a:t>
                      </a:r>
                      <a:r>
                        <a:rPr lang="ko-KR" altLang="en-US" sz="11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en-US" altLang="ko-KR" sz="11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</a:t>
                      </a:r>
                      <a:r>
                        <a:rPr lang="ko-KR" altLang="en-US" sz="11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허지윤</a:t>
                      </a:r>
                      <a:r>
                        <a:rPr lang="en-US" altLang="ko-KR" sz="11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S2  7/31 (금)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스터디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세미나 ② ACT · Diffusion Policy — 모방학습의 </a:t>
                      </a:r>
                      <a:r>
                        <a:rPr lang="en-US" sz="1150" dirty="0" err="1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두</a:t>
                      </a:r>
                      <a:r>
                        <a:rPr lang="en-US" sz="11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</a:t>
                      </a:r>
                      <a:r>
                        <a:rPr lang="ko-KR" altLang="en-US" sz="11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en-US" altLang="ko-KR" sz="11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</a:t>
                      </a:r>
                      <a:r>
                        <a:rPr lang="ko-KR" altLang="en-US" sz="1150" dirty="0" err="1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우현수</a:t>
                      </a:r>
                      <a:r>
                        <a:rPr lang="en-US" altLang="ko-KR" sz="11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S3  8/4 (화)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스터디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세미나 ③ OpenVLA · π0 — 파인튜닝 실습 </a:t>
                      </a:r>
                      <a:r>
                        <a:rPr lang="en-US" sz="1150" dirty="0" err="1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대상</a:t>
                      </a:r>
                      <a:r>
                        <a:rPr lang="en-US" sz="11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정독</a:t>
                      </a:r>
                      <a:r>
                        <a:rPr lang="ko-KR" altLang="en-US" sz="11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en-US" altLang="ko-KR" sz="11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</a:t>
                      </a:r>
                      <a:r>
                        <a:rPr lang="ko-KR" altLang="en-US" sz="11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김하연</a:t>
                      </a:r>
                      <a:r>
                        <a:rPr lang="en-US" altLang="ko-KR" sz="11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S4  8/5 (수)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스터디+실습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세미나 ④ GR00T N1 + LeRobot 환경 </a:t>
                      </a:r>
                      <a:r>
                        <a:rPr lang="en-US" sz="1150" dirty="0" err="1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구축</a:t>
                      </a:r>
                      <a:r>
                        <a:rPr lang="en-US" sz="11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착수</a:t>
                      </a:r>
                      <a:r>
                        <a:rPr lang="ko-KR" altLang="en-US" sz="11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en-US" altLang="ko-KR" sz="11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</a:t>
                      </a:r>
                      <a:r>
                        <a:rPr lang="ko-KR" altLang="en-US" sz="1150" dirty="0" err="1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나유빈</a:t>
                      </a:r>
                      <a:r>
                        <a:rPr lang="en-US" altLang="ko-KR" sz="11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S5  8/1</a:t>
                      </a:r>
                      <a:r>
                        <a:rPr lang="en-US" altLang="ko-KR" sz="11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</a:t>
                      </a:r>
                      <a:r>
                        <a:rPr lang="en-US" sz="11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</a:t>
                      </a:r>
                      <a:r>
                        <a:rPr lang="ko-KR" altLang="en-US" sz="11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</a:t>
                      </a:r>
                      <a:r>
                        <a:rPr lang="en-US" sz="11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실습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실습 ① RM75 teleop 시연 데이터 수집 (과제 1개 × 수십 에피소드)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S6  8/14 (금)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실습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실습 ② LoRA 파인튜닝 잡 세팅 · 시뮬레이션 평가 (학습은 야간·주말)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S7  8/19 (수)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실기체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실습 ③ RM75 실기체 언어 지시 조작 + G1 시뮬레이션 적용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S8  8/21 (금)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실기체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실습 ④ 챌린지 완성 · 데모 시나리오 확정 → 8/26 리허설 참여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623560"/>
            <a:ext cx="11183112" cy="548640"/>
          </a:xfrm>
          <a:prstGeom prst="roundRect">
            <a:avLst>
              <a:gd name="adj" fmla="val 10000"/>
            </a:avLst>
          </a:prstGeom>
          <a:solidFill>
            <a:srgbClr val="DCE9F7"/>
          </a:solidFill>
          <a:ln w="12700">
            <a:solidFill>
              <a:srgbClr val="DCE9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77240" y="5687568"/>
            <a:ext cx="10607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세션 사이는 자율 진행(논문 읽기·GPU 잡 모니터링·코드 정리) — 세션은 점검과 다음 단계 착수의 마디입니다. 8/28(금) 데모 데이가 최종 무대.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1단계 · 논문 스터디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14032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하계 VLA 교육 프로그램 (7. 29. ~ 8. 28.)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74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PAPER STUDY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읽을 논문 — 계보를 따라 여섯 편, 1인 </a:t>
            </a:r>
            <a:r>
              <a:rPr lang="en-US" altLang="ko-KR" sz="2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</a:t>
            </a:r>
            <a:r>
              <a:rPr lang="en-US" sz="2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2편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3112" cy="3218688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0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논문 (연도)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왜 읽는가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RT-1 : Robotics Transformer (2022)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대규모 로봇 데이터 + Transformer 정책의 출발점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S1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RT-2 (2023)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"VLA"라는 개념의 원점 — VLM에 행동을 잇다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S1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ACT (ALOHA, 2023)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모방학습 표준 ① — teleop 시연 데이터 학습의 기반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Diffusion Policy (2023)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모방학습 표준 ② — 행동 생성의 또 다른 축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OpenVLA (2024) · π0 (2024)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공개 7B VLA와 flow matching — 파인튜닝 실습의 대상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S3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GR00T N1 (NVIDIA, 2025)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휴머노이드 파운데이션 모델 — G1 적용의 참조점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S4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892040"/>
            <a:ext cx="11183112" cy="1188720"/>
          </a:xfrm>
          <a:prstGeom prst="roundRect">
            <a:avLst>
              <a:gd name="adj" fmla="val 4615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77240" y="5029200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세미나 방식 — </a:t>
            </a:r>
            <a:r>
              <a:rPr lang="en-US" altLang="ko-KR" sz="1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r>
              <a:rPr lang="en-US" sz="1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 × </a:t>
            </a:r>
            <a:r>
              <a:rPr lang="en-US" altLang="ko-KR" sz="1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</a:t>
            </a:r>
            <a:r>
              <a:rPr lang="en-US" sz="1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2편 발표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5394960"/>
            <a:ext cx="106451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 </a:t>
            </a:r>
            <a:r>
              <a:rPr lang="en-US" altLang="ko-KR" sz="12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</a:t>
            </a:r>
            <a:r>
              <a:rPr lang="en-US" sz="12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2편 배정(OT에서 확정), 발표 30분(구조·기여·한계) + 토론 20분. 발표자는 "RM75·G1에 적용한다면?" 슬라이드 1장을 필수 포함. </a:t>
            </a:r>
            <a:r>
              <a:rPr lang="en-US" sz="12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발표자료·요약 노트는 organization의 vla-study repo에 축적 — 연구실 공용 지식 자산이 됩니다.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2단계 · 실습 파이프라인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14032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하계 VLA 교육 프로그램 (7. 29. ~ 8. 28.)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74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HANDS-ON PIPELINE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→ 학습 → 평가 — 전 과정을 손으로 (S4~S6)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265176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2651760" cy="4572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 환경 구축 (S4~)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67512" y="21488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LeRobot 설치 · 공개 데이터셋으로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파이프라인 1회 재현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3520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"돌아가는 상태"를 먼저 확보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63824" y="2697480"/>
            <a:ext cx="182880" cy="274320"/>
          </a:xfrm>
          <a:prstGeom prst="rightArrow">
            <a:avLst/>
          </a:prstGeom>
          <a:solidFill>
            <a:srgbClr val="B4C7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364992" y="1554480"/>
            <a:ext cx="265176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364992" y="1554480"/>
            <a:ext cx="2651760" cy="457200"/>
          </a:xfrm>
          <a:prstGeom prst="rect">
            <a:avLst/>
          </a:prstGeom>
          <a:solidFill>
            <a:srgbClr val="2E74B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502152" y="15544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 데이터 수집 (S5)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529584" y="21488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RM75 teleop으로 시연 데이터 수집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(과제 1개 × 수십 에피소드)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9584" y="3520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E74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품질이 성능의 절반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25896" y="2697480"/>
            <a:ext cx="182880" cy="274320"/>
          </a:xfrm>
          <a:prstGeom prst="rightArrow">
            <a:avLst/>
          </a:prstGeom>
          <a:solidFill>
            <a:srgbClr val="B4C7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227064" y="1554480"/>
            <a:ext cx="265176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227064" y="1554480"/>
            <a:ext cx="2651760" cy="457200"/>
          </a:xfrm>
          <a:prstGeom prst="rect">
            <a:avLst/>
          </a:prstGeom>
          <a:solidFill>
            <a:srgbClr val="2C7A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364224" y="15544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 파인튜닝 (S6)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91656" y="21488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OpenVLA 계열 LoRA 파인튜닝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GPU 서버 야간·주말 잡 배치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91656" y="3520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C7A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학습이 아닌 적응 학습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887968" y="2697480"/>
            <a:ext cx="182880" cy="274320"/>
          </a:xfrm>
          <a:prstGeom prst="rightArrow">
            <a:avLst/>
          </a:prstGeom>
          <a:solidFill>
            <a:srgbClr val="B4C7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089136" y="1554480"/>
            <a:ext cx="265176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089136" y="1554480"/>
            <a:ext cx="2651760" cy="457200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9226296" y="15544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 평가·전이 (S6~7)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253728" y="21488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시뮬레이션 성공률 평가 →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RM75 실기체 실행 (3단계로 연결)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253728" y="3520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C55A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sim-to-real 차이를 기록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4434840"/>
            <a:ext cx="11183112" cy="1645920"/>
          </a:xfrm>
          <a:prstGeom prst="roundRect">
            <a:avLst>
              <a:gd name="adj" fmla="val 3333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777240" y="45902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여러분의 기존 역량이 그대로 쓰이는 지점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77240" y="4928616"/>
            <a:ext cx="310896" cy="310896"/>
          </a:xfrm>
          <a:prstGeom prst="ellipse">
            <a:avLst/>
          </a:prstGeom>
          <a:solidFill>
            <a:srgbClr val="2E74B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777240" y="49286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216152" y="4983480"/>
            <a:ext cx="10168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ROS2  </a:t>
            </a:r>
            <a:r>
              <a:rPr lang="en-US" sz="13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RM75의 ROS2 인터페이스로 teleop·토픽 로깅 — 익숙한 그 스택이 데이터 수집 도구가 됩니다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77240" y="5312664"/>
            <a:ext cx="310896" cy="310896"/>
          </a:xfrm>
          <a:prstGeom prst="ellipse">
            <a:avLst/>
          </a:prstGeom>
          <a:solidFill>
            <a:srgbClr val="2E74B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777240" y="53126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216152" y="5367528"/>
            <a:ext cx="10168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  </a:t>
            </a:r>
            <a:r>
              <a:rPr lang="en-US" sz="13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LeRobot·학습 스크립트·평가 코드 — 파이프라인 전체가 Python 생태계 위에 있습니다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77240" y="5696712"/>
            <a:ext cx="310896" cy="310896"/>
          </a:xfrm>
          <a:prstGeom prst="ellipse">
            <a:avLst/>
          </a:prstGeom>
          <a:solidFill>
            <a:srgbClr val="2E74B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777240" y="56967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216152" y="5751576"/>
            <a:ext cx="10168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3인 분업  </a:t>
            </a:r>
            <a:r>
              <a:rPr lang="en-US" sz="13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수집 / 학습·잡 관리 / 평가·시각화를 나눠 맡되, 세션마다 역할을 교대해 전원이 전 과정을 경험합니다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3단계 · 실기체 챌린지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14032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하계 VLA 교육 프로그램 (7. 29. ~ 8. 28.)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74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CHALLENGE &amp; DEMO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55A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언어로 명령하고, 로봇이 수행한다 (S7~S8)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5468112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5468112" cy="502920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: RM75 언어 지시 조작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5029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파인튜닝한 정책으로 "put the red block in the box" 류의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 지시 pick-and-place를 RM75 실기체에서 실행.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과제 : 학습한 지시 + 변형 지시(색·물체 교체) 각 성공률 측정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안전 : 워크스페이스 제한 · 3인 상호 확인 · 시뮬레이션 </a:t>
            </a:r>
            <a:r>
              <a:rPr lang="en-US" sz="1150" dirty="0" err="1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선검증</a:t>
            </a:r>
            <a:r>
              <a:rPr lang="en-US" sz="11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ko-KR" altLang="en-US" sz="11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  </a:t>
            </a:r>
            <a:r>
              <a:rPr lang="en-US" sz="11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신입 교육과 동일한 원칙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08776" y="1508760"/>
            <a:ext cx="5468112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208776" y="1508760"/>
            <a:ext cx="5468112" cy="5029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391656" y="150876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도전 : G1 상체 적용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83096" y="2148840"/>
            <a:ext cx="5029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GR00T 계열 참조 — 시뮬레이션(MuJoCo)과 행어 거치 상체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범위에서 언어 지시 제스처·리치 동작 시도.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보행 결합은 이번 프로그램 범위 밖 (후속 연구 주제로)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시뮬레이션 성과만으로도 챌린지 성립 — 실기체는 지도교수 승인 시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4206240"/>
            <a:ext cx="11183112" cy="1828800"/>
          </a:xfrm>
          <a:prstGeom prst="roundRect">
            <a:avLst>
              <a:gd name="adj" fmla="val 3000"/>
            </a:avLst>
          </a:prstGeom>
          <a:solidFill>
            <a:srgbClr val="DCE9F7"/>
          </a:solidFill>
          <a:ln w="12700">
            <a:solidFill>
              <a:srgbClr val="DCE9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77240" y="43616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8/28 통합 데모 데이 — 신입 팀과 같은 무대에서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77240" y="47548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신입 데모 데이(14:00~, 3팀 발표)에 VLA 팀이 네 번째 발표(발표 15분 + 질의 10분)로 참여합니다 — 형식·평가 방식은 신입 팀과 동일하게. 신입에게는 "다음 단계"를 보여주는 로드맵이 되고, 세 사람에게는 5주의 결실을 공식 무대에서 증명하는 자리가 됩니다. </a:t>
            </a: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라이브 원칙 동일 — 8/26(수) 리허설 통과 항목만 라이브, 백업 영상 필수.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운영 · 산출물 · 기대효과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14032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하계 VLA 교육 프로그램 (7. 29. ~ 8. 28.)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74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자원 · 산출물 · 그리고 이 프로그램이 여는 것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5468112" cy="2240280"/>
          </a:xfrm>
          <a:prstGeom prst="roundRect">
            <a:avLst>
              <a:gd name="adj" fmla="val 2449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77240" y="1548384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자원 운영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1956816"/>
            <a:ext cx="310896" cy="310896"/>
          </a:xfrm>
          <a:prstGeom prst="ellipse">
            <a:avLst/>
          </a:prstGeom>
          <a:solidFill>
            <a:srgbClr val="2E74B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77240" y="19568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16152" y="2011680"/>
            <a:ext cx="4498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GPU 서버  </a:t>
            </a:r>
            <a:r>
              <a:rPr lang="en-US" sz="13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예약제 · 학습 잡은 야간/주말 배치 — 세션 시간과 분리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2487168"/>
            <a:ext cx="310896" cy="310896"/>
          </a:xfrm>
          <a:prstGeom prst="ellipse">
            <a:avLst/>
          </a:prstGeom>
          <a:solidFill>
            <a:srgbClr val="2E74B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77240" y="24871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16152" y="2542032"/>
            <a:ext cx="4498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실기체 (RM75·G1)  </a:t>
            </a:r>
            <a:r>
              <a:rPr lang="en-US" sz="13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신입 교육 예약과 겹치지 않게 — 세션일 16시 이후 슬롯 고정 사용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3017520"/>
            <a:ext cx="310896" cy="310896"/>
          </a:xfrm>
          <a:prstGeom prst="ellipse">
            <a:avLst/>
          </a:prstGeom>
          <a:solidFill>
            <a:srgbClr val="2E74B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77240" y="30175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16152" y="3072384"/>
            <a:ext cx="4498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스터디 자산  </a:t>
            </a:r>
            <a:r>
              <a:rPr lang="en-US" sz="13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vla-study repo에 발표자료·노트·코드 일원화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08776" y="1463040"/>
            <a:ext cx="5468112" cy="2240280"/>
          </a:xfrm>
          <a:prstGeom prst="roundRect">
            <a:avLst>
              <a:gd name="adj" fmla="val 2449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8" name="Text 16"/>
          <p:cNvSpPr/>
          <p:nvPr/>
        </p:nvSpPr>
        <p:spPr>
          <a:xfrm>
            <a:off x="6483096" y="1548384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 (1인 기준)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83096" y="1949196"/>
            <a:ext cx="310896" cy="310896"/>
          </a:xfrm>
          <a:prstGeom prst="ellipse">
            <a:avLst/>
          </a:prstGeom>
          <a:solidFill>
            <a:srgbClr val="2C7A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483096" y="19491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22008" y="2011680"/>
            <a:ext cx="4599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 </a:t>
            </a:r>
            <a:r>
              <a:rPr lang="en-US" sz="1300" b="1" dirty="0" err="1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</a:t>
            </a:r>
            <a:r>
              <a:rPr lang="en-US" sz="13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3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</a:t>
            </a:r>
            <a:r>
              <a:rPr lang="en-US" sz="13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2편  </a:t>
            </a:r>
            <a:r>
              <a:rPr lang="en-US" sz="13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발표자료 + "RM75·G1 적용" 슬라이드 포함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83096" y="2479548"/>
            <a:ext cx="310896" cy="310896"/>
          </a:xfrm>
          <a:prstGeom prst="ellipse">
            <a:avLst/>
          </a:prstGeom>
          <a:solidFill>
            <a:srgbClr val="2C7A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483096" y="24795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22008" y="2542032"/>
            <a:ext cx="4498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파이프라인 기여  </a:t>
            </a:r>
            <a:r>
              <a:rPr lang="en-US" sz="13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수집 · 학습 · 평가 파트 코드 </a:t>
            </a:r>
            <a:r>
              <a:rPr lang="en-US" sz="1300" dirty="0" err="1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커밋</a:t>
            </a:r>
            <a:r>
              <a:rPr lang="en-US" sz="13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</p:txBody>
      </p:sp>
      <p:sp>
        <p:nvSpPr>
          <p:cNvPr id="25" name="Shape 23"/>
          <p:cNvSpPr/>
          <p:nvPr/>
        </p:nvSpPr>
        <p:spPr>
          <a:xfrm>
            <a:off x="6483096" y="3009900"/>
            <a:ext cx="310896" cy="310896"/>
          </a:xfrm>
          <a:prstGeom prst="ellipse">
            <a:avLst/>
          </a:prstGeom>
          <a:solidFill>
            <a:srgbClr val="2C7A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483096" y="30099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22008" y="3072384"/>
            <a:ext cx="4498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8/28 데모 발표  </a:t>
            </a:r>
            <a:r>
              <a:rPr lang="en-US" sz="13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공동 — 데모 + 성공률 분석 + 회고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2920" y="3886200"/>
            <a:ext cx="11183112" cy="2240280"/>
          </a:xfrm>
          <a:prstGeom prst="roundRect">
            <a:avLst>
              <a:gd name="adj" fmla="val 2553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777240" y="40416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55A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기대효과 — 이 5주가 여는 다음 단계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777240" y="4517136"/>
            <a:ext cx="310896" cy="310896"/>
          </a:xfrm>
          <a:prstGeom prst="ellipse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77240" y="45171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216152" y="4579620"/>
            <a:ext cx="10168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개인연구 · 논문  </a:t>
            </a:r>
            <a:r>
              <a:rPr lang="en-US" sz="13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VLA 파인튜닝·평가 경험은 그대로 2학기 개인연구 주제가 됩니다 — 학부생 논문의 현실적 소재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77240" y="4919472"/>
            <a:ext cx="310896" cy="310896"/>
          </a:xfrm>
          <a:prstGeom prst="ellipse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777240" y="49194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16152" y="4974336"/>
            <a:ext cx="10168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 경진대회  </a:t>
            </a:r>
            <a:r>
              <a:rPr lang="en-US" sz="13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 지시 조작은 경진대회 과제의 유력 방향 — 선배 트랙이 팀의 기술 축이 됩니다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77240" y="5321808"/>
            <a:ext cx="310896" cy="310896"/>
          </a:xfrm>
          <a:prstGeom prst="ellipse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777240" y="53218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216152" y="5376672"/>
            <a:ext cx="10168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연구실 연구 접속  </a:t>
            </a:r>
            <a:r>
              <a:rPr lang="en-US" sz="13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loco-manipulation·힘 기반 조작 연구에 VLA 스택을 얹는 첫 접점 — 대학원 진학 시 즉시 전력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77240" y="5724144"/>
            <a:ext cx="310896" cy="310896"/>
          </a:xfrm>
          <a:prstGeom prst="ellipse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777240" y="57241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216152" y="5794248"/>
            <a:ext cx="10168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선배 트랙의 모델 케이스  </a:t>
            </a:r>
            <a:r>
              <a:rPr lang="en-US" sz="13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3인의 결과물과 운영 경험이 내년 후배들의 심화 트랙 커리큘럼 원형이 됩니다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1227</TotalTime>
  <Words>1331</Words>
  <Application>Microsoft Macintosh PowerPoint</Application>
  <PresentationFormat>와이드스크린</PresentationFormat>
  <Paragraphs>166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Hyunsoo Woo</cp:lastModifiedBy>
  <cp:revision>8</cp:revision>
  <dcterms:created xsi:type="dcterms:W3CDTF">2026-07-19T13:28:21Z</dcterms:created>
  <dcterms:modified xsi:type="dcterms:W3CDTF">2026-07-22T15:28:49Z</dcterms:modified>
</cp:coreProperties>
</file>