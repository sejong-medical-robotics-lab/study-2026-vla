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02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2회차 후반부 Diffusion Policy 강의 표지. ACT(전반부)와 같은 해 같은 학회(RSS 2023)에 나온, 같은 질문("연속 행동 + 다봉 분포")에 대한 두 번째 생성적 답안. 학습자료(Diffusion Policy 상세 학습자료)와 절 번호가 일치.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0장. 수식은 2~3부에 몰려 있고 그마저 Eq 1~5 다섯 개뿐 — 그 고개만 넘으면 나머지는 실험 이야기라는 점을 미리 안심시키기. 판본(확장판) 주의는 학생들이 학회판 PDF를 들고 올 수 있어 필수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1.1절. ACT를 깎아내리는 게 아니라 "질문을 한 단계 올리는" 프레임으로: z=0은 대표 모드 하나라는 절충이었다 → 상한을 더 밀 수 있는가. 같은 해 같은 학회라는 사실은 학생들이 두 논문을 경쟁 구도로만 읽지 않게 해 주는 좋은 맥락.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1.2절. "유별난 지도학습"이라는 표현이 핵심 — 문제를 회귀로 보되, 회귀가 깨지는 세 지점을 명시. 4부와의 1:1 대응을 예고해 두면 뒤가 체크리스트처럼 읽힌다.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1.3절 + Fig 1. 이 그림 하나로 논문 전체의 위치가 잡힌다. 4.4절에서 (b)와의 대비가 수식으로 확정된다는 예고. CVAE의 위치(그림 밖, a의 변종)를 짚는 것이 ACT와의 연결 고리.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1.4절. "정책의 구조가 병목"이라는 주장이 이 논문의 정체성 — 데이터 축(1회차)과 구조 축(2회차)을 나누는 프레임. 성적표의 46.9%는 5.2에서 정의를 해부하므로 여기선 헤드라인만.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2.1절. 조각 비유 하나로 확산 모델의 학습·추론 방향을 모두 심는다. "배열 바꿔 끼우기"라는 발상의 소박함을 강조하면 학생들의 심리적 진입장벽이 낮아진다.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2.2절. 수식 공포를 줄이는 슬라이드 — Eq 1(추론), Eq 2(경사 하강 독법), Eq 3(학습)이 전부. Eq 2의 독법을 취해야 2.3의 score 이야기와 4.4의 안정성 논리가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2.3절. 학부생에게는 "Z가 왜 문제인가"부터: 확률이 되려면 다 더해 1이 되어야 하는데 연속 고차원 공간에서 그 합(적분)을 구할 수 없다. score는 그 적분을 아예 우회하는 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2.4~2.5절. To/Tp/Ta 세 숫자(2/16/8)는 이후 계속 등장하므로 여기서 확실히. DDIM의 "학습·추론 반복수 분리"는 FAQ Q1의 핵심 부품.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3.1절. "개조 두 가지"의 미니멀리즘을 강조 — 조건 O_t 하나 추가로 이미지 생성의 전 자산을 상속. Eq 4·5는 Eq 1·3과 나란히 놓고 색으로 차이만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3.2절 + Fig 2(a). To/Tp/Ta의 타임라인을 그림과 함께. "버리는 것이 아깝지 않은가"라는 질문이 나오면 warm-start와 Q2(모드 평균 위험)로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3.3절. "조건이냐 출력이냐"의 갈림 — 관측을 생성 대상에서 빼는 것이 실시간성·정확도·e2e 학습의 원천. Janner류 planning과의 대비는 이후 world model 논의에서 재소환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3.4절 + Fig 2(b·c). 두 벌의 성격 대비(무난 vs 민감, 저주파 편향 vs 고주파 강함)는 5.2의 Block Push 숫자(CNN 붕괴 vs Tf 0.99)로 검증된다. 권고문은 우리 랩 실습(Q8)의 출발점.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3.5절. 논문 본문보다 부록에 있는 "겪어 본 사람만 아는" 디테일 모음 — 재현 실습(4회차 이후) 때 그대로 회수할 목록. 정규화 함정은 판서로 한 번 더 강조 추천.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4.1절 + Fig 3. "표현"과 "커밋"을 분리하는 언어가 핵심 — 분포는 다봉으로 배우되 실행은 한 모드에 정합. 비교군 셋의 실패 양상(편향/편향/방황)을 그림에서 직접 가리키며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4.2절 + Fig 4. "베이스라인엔 나쁜 선택이 DP엔 좋은 선택"이라는 상호작용이 포인트 — 방법과 행동공간이 독립이 아니라는 것. ACT의 관절-절대와 DP의 EE-절대가 "절대 표현"에서 수렴.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4.3절. 일관성·idle 두 이득은 실물 Push-T(5.4)에서 그대로 검증된다(idle을 지우지 않은 데이터, 단일 스텝 계열의 정지). "출력 쪽 흡수"는 ACT FAQ Q2와 같은 프레임.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4.4절 + Fig 6. 2.3절의 score 한 줌이 여기서 결실 — Z가 학습·추론 어디에도 없음(Eq 8). "손실은 떨어지는데 예측은 안 되는" IBC 곡선은 손실 곡선 맹신에 대한 좋은 교재.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4.5절(확장판). 수식 유도는 생략하고 두 결론만: ①단순 극한에서 LQR 회복(sanity) ②Tp&gt;1은 암묵적 동역학 학습 강요. 대학원 지향 학생에게는 원문 §4.5 유도를 과제로 줄 만함.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5.1절. "무엇을 시험하는 스위트인가"를 과제마다 붙여 읽는 습관 — Push-T=정밀 접촉, Block Push=장지평 다봉, Kitchen=종합. 평가 방법론(자기 불리하게 설계)은 학생들의 실험 설계 교육 포인트.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5.2절. 표의 다섯 줄은 대표 발췌(전체는 Table 1·2·4). +213%(Kitchen p4) 같은 상대 향상률의 정의를 ⚠️ 카드로 명확히 — 절대 성공률 차이와 혼동하지 않게.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5.3절 + Fig 5. Ta 곡선을 ACT의 k 곡선과 겹쳐 그려 보이면(둘 다 산 모양) "시퀀스 길이의 절충"이 방법 불문 보편임이 보인다. ⑤는 이후 VLA 백본 시대의 "왜 그냥 frozen 인코더를 안 쓰나"에 대한 조기 답변.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5.4절 + Fig 7. "사람 수준의 95%"는 성공률 헤드라인이고, 강의 포인트는 실패 분석 — 어디서(단계 전환), 왜(다봉+idle 과적합) 무너지는가. 인코더 비교는 5.3⑤와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5.4절 💡. 세 교란 중 마지막(되돌아와 수정)이 백미 — 시연에 없던 복구 행동. DAgger 없이도 어느 정도의 복구가 조건부 생성에서 창발한다는 관찰로, 토론 유도하기 좋은 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5.5절. 표의 여섯 과제는 각각 "BC가 꺼리던 것"의 목록이기도 하다 — 고다봉 파지(머그), idle+비강체(소스), 주기 동작(스프레드), 협응(양팔). out-of-the-box 이식성은 안정성 절과 반드시 묶어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5.5절 💡. 정책 성능(55%) 이전에 "데모 자체가 만들어지는가"가 병목이었다는 이야기 — ALOHA의 gravity comp·직접 조종 설계 철학과 나란히. 실습조 teleop 설계 리뷰 항목으로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5.6절. 저자 스스로 남긴 한계 둘 — 한계 절을 "다음 논문의 예고편"으로 읽는 습관. 느린 추론 → flow matching(π0), 언어 부재(FAQ Q7) → VLA 합류: 3회차 도입부에서 이 슬라이드를 다시 소환할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6장 비교표 전체. 한 줄씩 읽지 말고 세로로 읽기 — "다봉 해법 → 폐루프 장치"가 한 논리 사슬(결정적이라 평균 가능 vs 확률적이라 재샘플). 추론 행(0.01 vs 0.1초)은 FAQ Q1과 토론 질문 ①의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6장 통찰 3줄. ①트레이드오프의 원형 ②수렴하는 표준 장비 ③합류의 예고 — 2회차 전체를 3회차(π0·OpenVLA)로 넘기는 브리지. 여기서 5분 정도 자유 토론을 끼워도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7장 Q1~Q4. Q2가 이 덱의 백미 — "왜 평균하지 않는가"는 결정적/확률적 차이가 실행 전략으로 번역되는 지점. 좌+우=정중앙 충돌이라는 한 문장으로 기억시키기.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7장 Q5~Q7. Q5의 "정책·안전 계층 분리"는 7회차 안전 SOP와 연결해 미리 언급. Q6은 4.4절 요약 재생 — 시험 문제로 내기 좋은 항목.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7장 Q8. 실습 연결 슬라이드 — LeRobot 경로, 하이퍼 세트, 데이터 팁까지 그대로 옮겨 적을 수 있게. 미니 A/B는 실제 5~7회차 커리큘럼 후보로 검토 중임을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8장. 3회차 예습 질문("확산 vs flow matching")을 반드시 공지 — 다음 세션 도입 토론으로 사용 예정. UMI는 같은 랩(Columbia/Chi)의 후속이라는 계보도 언급하면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 중 클릭용 링크 허브(ACT 덱 36번과 같은 형식). 왼쪽 위 카드가 수업 중 재생용 영상 — DP 프로젝트 페이지의 교란·양팔 영상은 5부 진행 중에, ALOHA는 전·후반 비교 시연에. 프로젝터 환경에서는 시작 전 탭을 미리 열어 둘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세 문장 + 토론 두 개. 토론 ①은 비교표의 추론 행, ②는 4.3절 idle 논의가 근거 — ACT는 지우는 편이 안전(ensemble 평균 오염), DP는 남겨도 견딤. 다음 주 3회차: OpenVLA·π0 (예습 질문: 확산 vs flow matching).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iffusion-policy.cs.columbia.edu/" TargetMode="External"/><Relationship Id="rId4" Type="http://schemas.openxmlformats.org/officeDocument/2006/relationships/hyperlink" Target="https://arxiv.org/abs/2303.04137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6.11239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rxiv.org/abs/2010.02502" TargetMode="External"/><Relationship Id="rId4" Type="http://schemas.openxmlformats.org/officeDocument/2006/relationships/hyperlink" Target="https://lilianweng.github.io/posts/2021-07-11-diffusion-models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iffusion-policy.cs.columbia.edu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ggingface/lerobot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real-stanford/diffusion_policy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303.04137" TargetMode="External"/><Relationship Id="rId13" Type="http://schemas.openxmlformats.org/officeDocument/2006/relationships/hyperlink" Target="https://arxiv.org/abs/2010.02502" TargetMode="External"/><Relationship Id="rId18" Type="http://schemas.openxmlformats.org/officeDocument/2006/relationships/hyperlink" Target="https://arxiv.org/abs/2206.11251" TargetMode="External"/><Relationship Id="rId3" Type="http://schemas.openxmlformats.org/officeDocument/2006/relationships/hyperlink" Target="https://www.physicalintelligence.company/" TargetMode="External"/><Relationship Id="rId21" Type="http://schemas.openxmlformats.org/officeDocument/2006/relationships/hyperlink" Target="https://github.com/huggingface/lerobot" TargetMode="External"/><Relationship Id="rId7" Type="http://schemas.openxmlformats.org/officeDocument/2006/relationships/hyperlink" Target="https://arxiv.org/abs/2405.07503" TargetMode="External"/><Relationship Id="rId12" Type="http://schemas.openxmlformats.org/officeDocument/2006/relationships/hyperlink" Target="https://lilianweng.github.io/posts/2021-07-11-diffusion-models/" TargetMode="External"/><Relationship Id="rId17" Type="http://schemas.openxmlformats.org/officeDocument/2006/relationships/hyperlink" Target="https://arxiv.org/abs/2109.00137" TargetMode="External"/><Relationship Id="rId2" Type="http://schemas.openxmlformats.org/officeDocument/2006/relationships/notesSlide" Target="../notesSlides/notesSlide34.xml"/><Relationship Id="rId16" Type="http://schemas.openxmlformats.org/officeDocument/2006/relationships/hyperlink" Target="https://arxiv.org/abs/1709.07871" TargetMode="External"/><Relationship Id="rId20" Type="http://schemas.openxmlformats.org/officeDocument/2006/relationships/hyperlink" Target="https://developer.nvidia.com/isaac/gr00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402.10329" TargetMode="External"/><Relationship Id="rId11" Type="http://schemas.openxmlformats.org/officeDocument/2006/relationships/hyperlink" Target="https://arxiv.org/abs/2006.11239" TargetMode="External"/><Relationship Id="rId5" Type="http://schemas.openxmlformats.org/officeDocument/2006/relationships/hyperlink" Target="https://arxiv.org/abs/2403.03954" TargetMode="External"/><Relationship Id="rId15" Type="http://schemas.openxmlformats.org/officeDocument/2006/relationships/hyperlink" Target="https://arxiv.org/abs/1907.05600" TargetMode="External"/><Relationship Id="rId10" Type="http://schemas.openxmlformats.org/officeDocument/2006/relationships/hyperlink" Target="https://github.com/real-stanford/diffusion_policy" TargetMode="External"/><Relationship Id="rId19" Type="http://schemas.openxmlformats.org/officeDocument/2006/relationships/hyperlink" Target="https://arxiv.org/abs/2108.03298" TargetMode="External"/><Relationship Id="rId4" Type="http://schemas.openxmlformats.org/officeDocument/2006/relationships/hyperlink" Target="https://openvla.github.io/" TargetMode="External"/><Relationship Id="rId9" Type="http://schemas.openxmlformats.org/officeDocument/2006/relationships/hyperlink" Target="https://diffusion-policy.cs.columbia.edu/" TargetMode="External"/><Relationship Id="rId14" Type="http://schemas.openxmlformats.org/officeDocument/2006/relationships/hyperlink" Target="https://arxiv.org/abs/2102.09672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006.11239" TargetMode="External"/><Relationship Id="rId13" Type="http://schemas.openxmlformats.org/officeDocument/2006/relationships/hyperlink" Target="https://arxiv.org/abs/1709.07871" TargetMode="External"/><Relationship Id="rId18" Type="http://schemas.openxmlformats.org/officeDocument/2006/relationships/hyperlink" Target="https://arxiv.org/abs/2402.10329" TargetMode="External"/><Relationship Id="rId3" Type="http://schemas.openxmlformats.org/officeDocument/2006/relationships/hyperlink" Target="https://diffusion-policy.cs.columbia.edu/" TargetMode="External"/><Relationship Id="rId21" Type="http://schemas.openxmlformats.org/officeDocument/2006/relationships/hyperlink" Target="https://www.physicalintelligence.company/" TargetMode="External"/><Relationship Id="rId7" Type="http://schemas.openxmlformats.org/officeDocument/2006/relationships/hyperlink" Target="https://github.com/huggingface/lerobot" TargetMode="External"/><Relationship Id="rId12" Type="http://schemas.openxmlformats.org/officeDocument/2006/relationships/hyperlink" Target="https://arxiv.org/abs/1907.05600" TargetMode="External"/><Relationship Id="rId17" Type="http://schemas.openxmlformats.org/officeDocument/2006/relationships/hyperlink" Target="https://arxiv.org/abs/2403.03954" TargetMode="External"/><Relationship Id="rId2" Type="http://schemas.openxmlformats.org/officeDocument/2006/relationships/notesSlide" Target="../notesSlides/notesSlide35.xml"/><Relationship Id="rId16" Type="http://schemas.openxmlformats.org/officeDocument/2006/relationships/hyperlink" Target="https://arxiv.org/abs/2108.03298" TargetMode="External"/><Relationship Id="rId20" Type="http://schemas.openxmlformats.org/officeDocument/2006/relationships/hyperlink" Target="https://openvla.github.io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real-stanford/diffusion_policy" TargetMode="External"/><Relationship Id="rId11" Type="http://schemas.openxmlformats.org/officeDocument/2006/relationships/hyperlink" Target="https://arxiv.org/abs/2102.09672" TargetMode="External"/><Relationship Id="rId5" Type="http://schemas.openxmlformats.org/officeDocument/2006/relationships/hyperlink" Target="https://arxiv.org/abs/2303.04137" TargetMode="External"/><Relationship Id="rId15" Type="http://schemas.openxmlformats.org/officeDocument/2006/relationships/hyperlink" Target="https://arxiv.org/abs/2206.11251" TargetMode="External"/><Relationship Id="rId10" Type="http://schemas.openxmlformats.org/officeDocument/2006/relationships/hyperlink" Target="https://arxiv.org/abs/2010.02502" TargetMode="External"/><Relationship Id="rId19" Type="http://schemas.openxmlformats.org/officeDocument/2006/relationships/hyperlink" Target="https://arxiv.org/abs/2405.07503" TargetMode="External"/><Relationship Id="rId4" Type="http://schemas.openxmlformats.org/officeDocument/2006/relationships/hyperlink" Target="https://tonyzhaozh.github.io/aloha/" TargetMode="External"/><Relationship Id="rId9" Type="http://schemas.openxmlformats.org/officeDocument/2006/relationships/hyperlink" Target="https://lilianweng.github.io/posts/2021-07-11-diffusion-models/" TargetMode="External"/><Relationship Id="rId14" Type="http://schemas.openxmlformats.org/officeDocument/2006/relationships/hyperlink" Target="https://arxiv.org/abs/2109.00137" TargetMode="External"/><Relationship Id="rId22" Type="http://schemas.openxmlformats.org/officeDocument/2006/relationships/hyperlink" Target="https://developer.nvidia.com/isaac/gr00t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· 2회차 후반 (2026. 7. 31.)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Diffusion Policy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84708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7E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노이즈를 깎아 행동을 만든다 — 확산 모델로 푸는 시각운동 정책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741932" y="2551176"/>
            <a:ext cx="8705088" cy="232303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figs_dp/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796" y="2606040"/>
            <a:ext cx="8595360" cy="22133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41932" y="4883350"/>
            <a:ext cx="8705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 et al., RSS 2023 — Fig. 1 (정책 표현의 세 갈래: explicit · implicit · diffusion)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518510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6A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논문 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Diffusion Policy: Visuomotor Policy Learning via Action Diffusion — Cheng Chi, Zhenjia Xu, Siyuan Feng, Eric Cousineau, Yilun Du, Benjamin Burchfiel, Russ Tedrake, Shuran Song (RSS 2023 · 확장판 arXiv v5 / IJRR 기준)</a:t>
            </a: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r>
              <a:rPr lang="en-US" sz="1200" u="sng" dirty="0">
                <a:solidFill>
                  <a:srgbClr val="A9CB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논문 열기</a:t>
            </a:r>
            <a:r>
              <a:rPr lang="en-US" sz="1200" dirty="0">
                <a:solidFill>
                  <a:srgbClr val="D7E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r>
              <a:rPr lang="en-US" sz="1200" u="sng" dirty="0">
                <a:solidFill>
                  <a:srgbClr val="A9CB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프로젝트 페이지(실물 영상)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D7E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r>
              <a:rPr lang="en-US" sz="1100" dirty="0">
                <a:solidFill>
                  <a:srgbClr val="D7E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우현수 · 세종대학교 AI로봇학과 Medical Robotics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9079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로드맵 — 학습자료 목차 그대로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「Diffusion Policy 상세 학습자료」 대응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12648" y="1307592"/>
            <a:ext cx="420624" cy="420624"/>
          </a:xfrm>
          <a:prstGeom prst="ellipse">
            <a:avLst/>
          </a:prstGeom>
          <a:solidFill>
            <a:srgbClr val="1F3E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18872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Diffusion Policy인가  </a:t>
            </a: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ACT가 남긴 질문 · 행동 생성의 재정의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18872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420624" cy="420624"/>
          </a:xfrm>
          <a:prstGeom prst="ellipse">
            <a:avLst/>
          </a:prstGeom>
          <a:solidFill>
            <a:srgbClr val="1F3E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118872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기초: 확산 모델 최소한  </a:t>
            </a: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비유 · DDPM(Eq 1~3) · score · DDIM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993392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12648" y="2112264"/>
            <a:ext cx="420624" cy="420624"/>
          </a:xfrm>
          <a:prstGeom prst="ellipse">
            <a:avLst/>
          </a:prstGeom>
          <a:solidFill>
            <a:srgbClr val="1F3E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61288" y="199339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해부  </a:t>
            </a: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개조 2가지 · To/Tp/Ta · 네트워크 두 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1993392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09360" y="2112264"/>
            <a:ext cx="420624" cy="420624"/>
          </a:xfrm>
          <a:prstGeom prst="ellipse">
            <a:avLst/>
          </a:prstGeom>
          <a:solidFill>
            <a:srgbClr val="1F3E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99339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잘 되는가  </a:t>
            </a: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다봉 커밋 · 위치 제어 · 시퀀스 · 안정성 (§4)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798064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12648" y="2916936"/>
            <a:ext cx="420624" cy="420624"/>
          </a:xfrm>
          <a:prstGeom prst="ellipse">
            <a:avLst/>
          </a:prstGeom>
          <a:solidFill>
            <a:srgbClr val="1F3E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61288" y="279806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 </a:t>
            </a: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15과제 + 실물 7과제 (§5–7)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99632" y="2798064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09360" y="2916936"/>
            <a:ext cx="420624" cy="420624"/>
          </a:xfrm>
          <a:prstGeom prst="ellipse">
            <a:avLst/>
          </a:prstGeom>
          <a:solidFill>
            <a:srgbClr val="1F3E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279806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ACT와 비교  </a:t>
            </a: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질문, 두 개의 생성적 답 + 통찰 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602736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12648" y="3721608"/>
            <a:ext cx="420624" cy="420624"/>
          </a:xfrm>
          <a:prstGeom prst="ellipse">
            <a:avLst/>
          </a:prstGeom>
          <a:solidFill>
            <a:srgbClr val="1F3E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61288" y="360273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 · 랩 적용  </a:t>
            </a: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Q1–Q8, RM75/LeRobot 레시피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4526280"/>
            <a:ext cx="11183112" cy="96012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67512" y="463600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관통 질문 — ACT 편에서 그대로 들고 온다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" y="4946904"/>
            <a:ext cx="108539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"연속 행동을 포기하지 않고 다봉 분포를 잡는 방법은 없을까?"  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CVAE가 첫 답안이었다면, 오늘은 두 번째 답안(확산 모델) — 두 답이 어디서 갈라지는지에 초점.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57150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r>
              <a:rPr lang="en-US" sz="11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판본 주의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 자료는 확장판(arXiv v5 / IJRR) 기준 — 제어이론(§4.5)·비전 인코더 ablation(§5.4)·양팔 실물 3과제(§7)가 학회판에 없는 추가분이라, 학회판 PDF와는 섹션 번호·범위가 다를 수 있다.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  ACT 복습 — 생성 노선의 첫 답안, 그리고 남은 질문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편의 결론 한 줄: 다봉 분포 앞에서 RT 계열은 </a:t>
            </a:r>
            <a:r>
              <a:rPr lang="en-US" sz="1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이산화(분류)</a:t>
            </a: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를, ACT는 </a:t>
            </a:r>
            <a:r>
              <a:rPr lang="en-US" sz="1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생성(CVAE)</a:t>
            </a: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택했고, 생성 노선이 연속 정밀 행동을 지켜냈다. — 그런데 질문이 남는다.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31536" cy="2103120"/>
          </a:xfrm>
          <a:prstGeom prst="roundRect">
            <a:avLst>
              <a:gd name="adj" fmla="val 3043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202996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CVAE의 절충, 다시 보기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340864"/>
            <a:ext cx="5102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간 차이를 z에 가두고, 실행 시엔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z=0(대표 스타일 하나)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결정적 디코딩. 훌륭했지만 — 분포가 정말 복잡하다면(봉우리가 여럿, 모양도 제각각) </a:t>
            </a: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 한 번의 샘플에 그 전부를 실을 수 있을까?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게다가 β 튜닝, 사후분포 붕괴(posterior collapse) 같은 VAE 특유의 미묘함이 따라온다.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920240"/>
            <a:ext cx="5431536" cy="2103120"/>
          </a:xfrm>
          <a:prstGeom prst="roundRect">
            <a:avLst>
              <a:gd name="adj" fmla="val 3043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19088" y="202996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마침, 시대의 물결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19088" y="2340864"/>
            <a:ext cx="5102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2020~22년, 이미지 생성에서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모델이 GAN과 VAE를 밀어내던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시점(DALL·E 2, Stable Diffusion). 그 물결을 로봇 행동 공간으로 끌고 온 것이 이 논문 — ACT와 </a:t>
            </a: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해, 같은 학회(RSS 2023)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나란히 발표됐다는 사실이 이 시기의 공기를 보여준다.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297680"/>
            <a:ext cx="11183112" cy="1234440"/>
          </a:xfrm>
          <a:prstGeom prst="roundRect">
            <a:avLst>
              <a:gd name="adj" fmla="val 5185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512" y="440740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질문의 승격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" y="4718304"/>
            <a:ext cx="10853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"분포 표현력의 상한을 더 밀어 올리는 생성 모델은 없을까?" — 오늘의 답이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모델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ACT의 z 1회 생성과 어디서 갈라지는지가 오늘 내내 되풀이될 비교 축이다.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  행동 예측은 왜 유별난 지도학습인가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시연으로부터의 정책 학습은 가장 단순하게 보면 "관측 → 행동" 회귀다. 그러나 로봇 행동 예측에는 다른 지도학습에 없는 </a:t>
            </a:r>
            <a:r>
              <a:rPr lang="en-US" sz="1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성질</a:t>
            </a: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겹쳐 있다: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544824" cy="2103120"/>
          </a:xfrm>
          <a:prstGeom prst="roundRect">
            <a:avLst>
              <a:gd name="adj" fmla="val 3043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67512" y="1938528"/>
            <a:ext cx="321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다봉 분포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2322576"/>
            <a:ext cx="32156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장면에 서로 다른 정답 궤적이 여럿 있다 — ACT 편 2.2절의 확률성 문제 그대로.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2064" y="1828800"/>
            <a:ext cx="3544824" cy="2103120"/>
          </a:xfrm>
          <a:prstGeom prst="roundRect">
            <a:avLst>
              <a:gd name="adj" fmla="val 3043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486656" y="1938528"/>
            <a:ext cx="321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순차 상관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6656" y="2322576"/>
            <a:ext cx="32156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행동은 낱개가 아니라 시퀀스로 이어져야 한다 — 스텝별 독립 예측은 일관성을 잃는다.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41208" y="1828800"/>
            <a:ext cx="3544824" cy="2103120"/>
          </a:xfrm>
          <a:prstGeom prst="roundRect">
            <a:avLst>
              <a:gd name="adj" fmla="val 3043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05800" y="1938528"/>
            <a:ext cx="321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고정밀 요구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05800" y="2322576"/>
            <a:ext cx="32156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밀리미터·점접촉 수준의 정밀이 요구된다 — 거친 표현으로는 못 담는다.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206240"/>
            <a:ext cx="11183112" cy="1371600"/>
          </a:xfrm>
          <a:prstGeom prst="roundRect">
            <a:avLst>
              <a:gd name="adj" fmla="val 4667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7512" y="4334256"/>
            <a:ext cx="10853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1회차부터 끌고 온 문제의식이 이 논문 서두에서 한 문장으로 재정식화되는 셈.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예고: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세 성질이 4부의 성질 셋 —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다봉 표현(4.1) · 시퀀스 예측(4.3) · 학습 안정성(4.4)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과 하나씩 대응하며 회수된다.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 기존 답안의 지형도 — 명시적, 암묵적, 그리고 확산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§1 · Fig.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4652" y="1225296"/>
            <a:ext cx="10899648" cy="288812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figs_dp/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1280160"/>
            <a:ext cx="10789920" cy="27784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" y="4122569"/>
            <a:ext cx="10899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 et al., RSS 2023 — Fig. 1 (a: explicit · b: implicit · c: diffusion)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02920" y="4378601"/>
            <a:ext cx="3544824" cy="1261872"/>
          </a:xfrm>
          <a:prstGeom prst="roundRect">
            <a:avLst>
              <a:gd name="adj" fmla="val 5072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67512" y="4488329"/>
            <a:ext cx="3215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명시적(explicit)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7512" y="4799225"/>
            <a:ext cx="321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→ F(o) → a. 회귀·혼합가우시안(LSTM-GMM)·이산화(BeT). 단순·빠름 — 다봉·고정밀 표현에 한계.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22064" y="4378601"/>
            <a:ext cx="3544824" cy="1261872"/>
          </a:xfrm>
          <a:prstGeom prst="roundRect">
            <a:avLst>
              <a:gd name="adj" fmla="val 5072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486656" y="4488329"/>
            <a:ext cx="3215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암묵적(implicit, IBC)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86656" y="4799225"/>
            <a:ext cx="321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a* = argmin E(o,a) — 에너지 최저점 탐색. 다봉 표현은 되지만, 정규화 상수 Z 탓에 학습 불안정.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141208" y="4378601"/>
            <a:ext cx="3544824" cy="1261872"/>
          </a:xfrm>
          <a:prstGeom prst="roundRect">
            <a:avLst>
              <a:gd name="adj" fmla="val 5072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305800" y="4488329"/>
            <a:ext cx="3215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(c) 확산(본 논문)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05800" y="4799225"/>
            <a:ext cx="321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A</a:t>
            </a:r>
            <a:r>
              <a:rPr lang="en-US" sz="1050" baseline="30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</a:t>
            </a: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─(K회 정제)→ A</a:t>
            </a:r>
            <a:r>
              <a:rPr lang="en-US" sz="1050" baseline="30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(b)의 표현력 + 안정 학습. 대가는 추론 시 K회 반복 계산.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5768489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ACT의 CVAE는 이 그림에 없지만 </a:t>
            </a:r>
            <a:r>
              <a:rPr lang="en-US" sz="11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(a)의 생성형 변종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쯤에 놓인다 — 1패스로 내되 잠재변수로 다봉성 흡수. DP는 (b)가 약속했던 "임의 분포 표현"을 (b)의 고질병 없이 가져오는 자리, 즉 (c)를 새로 연다.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  제안 한 줄과 성적표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11183112" cy="868680"/>
          </a:xfrm>
          <a:prstGeom prst="roundRect">
            <a:avLst>
              <a:gd name="adj" fmla="val 7368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316736"/>
            <a:ext cx="108539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Diffusion Policy = "로봇 행동 공간 위의 조건부 노이즈 제거 확산 과정(DDPM)"으로 정책을 표현한다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5431536" cy="1783080"/>
          </a:xfrm>
          <a:prstGeom prst="roundRect">
            <a:avLst>
              <a:gd name="adj" fmla="val 3590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7512" y="235000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모델에서 물려받는 강점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" y="2660904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다봉 행동 분포 표현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정규화 가능한 임의 분포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고차원 출력 공간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행동 시퀀스를 통째로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안정성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노이즈 MSE 회귀 하나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4496" y="2240280"/>
            <a:ext cx="5431536" cy="1783080"/>
          </a:xfrm>
          <a:prstGeom prst="roundRect">
            <a:avLst>
              <a:gd name="adj" fmla="val 3590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19088" y="235000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실물에 올리기 위한 기술 기여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19088" y="2660904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폐루프 행동 시퀀스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receding horizon (3.2)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조건화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관측은 조건, 출력이 아님 (3.3)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확산 트랜스포머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네트워크 두 벌 (3.4)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11183112" cy="960120"/>
          </a:xfrm>
          <a:prstGeom prst="roundRect">
            <a:avLst>
              <a:gd name="adj" fmla="val 6667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7512" y="4334256"/>
            <a:ext cx="10853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성적표:  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벤치마크 15개 과제 </a:t>
            </a:r>
            <a:r>
              <a:rPr lang="en-US" sz="125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과제 1위, 평균 +46.9%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실물 단일팔 4과제 + 양팔 3과제 성공.  큰 주장: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"행동복제의 병목은 데이터만이 아니라 정책의 구조다."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349240"/>
            <a:ext cx="11183112" cy="822960"/>
          </a:xfrm>
          <a:prstGeom prst="roundRect">
            <a:avLst>
              <a:gd name="adj" fmla="val 7778"/>
            </a:avLst>
          </a:prstGeom>
          <a:solidFill>
            <a:srgbClr val="FDEDEC"/>
          </a:solidFill>
          <a:ln w="12700">
            <a:solidFill>
              <a:srgbClr val="F5C6C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7512" y="5477256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46.9%의 정체는 5부에서 각주까지 뜯어본다 — 벤치마크 숫자는 정의·각주까지 챙겨 읽는 습관을 이 논문으로 들이자.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  직관 — 대리석에서 조각상을 깎아내듯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83112" cy="1097280"/>
          </a:xfrm>
          <a:prstGeom prst="roundRect">
            <a:avLst>
              <a:gd name="adj" fmla="val 5833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7512" y="1362456"/>
            <a:ext cx="10853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노이즈(대리석 덩어리)에서 시작해, </a:t>
            </a:r>
            <a:r>
              <a:rPr lang="en-US" sz="14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 이 덩어리에 섞여 있는 노이즈가 무엇인지"를 맞히고 그만큼 깎아내는 일</a:t>
            </a:r>
            <a:r>
              <a:rPr lang="en-US" sz="14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K번 반복하면 — 데이터(조각상)가 남는다.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3017520" cy="868680"/>
          </a:xfrm>
          <a:prstGeom prst="roundRect">
            <a:avLst>
              <a:gd name="adj" fmla="val 7368"/>
            </a:avLst>
          </a:prstGeom>
          <a:solidFill>
            <a:srgbClr val="E9EDF3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67512" y="2688336"/>
            <a:ext cx="26883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r>
              <a:rPr lang="en-US" sz="1300" b="1" baseline="30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</a:t>
            </a: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순수 노이즈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03320" y="2743200"/>
            <a:ext cx="640080" cy="502920"/>
          </a:xfrm>
          <a:prstGeom prst="rightArrow">
            <a:avLst/>
          </a:prstGeom>
          <a:solidFill>
            <a:srgbClr val="2E5A88"/>
          </a:solidFill>
          <a:ln w="12700">
            <a:solidFill>
              <a:srgbClr val="2E5A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26280" y="2560320"/>
            <a:ext cx="3108960" cy="868680"/>
          </a:xfrm>
          <a:prstGeom prst="roundRect">
            <a:avLst>
              <a:gd name="adj" fmla="val 7368"/>
            </a:avLst>
          </a:prstGeom>
          <a:solidFill>
            <a:srgbClr val="1F3E63"/>
          </a:solidFill>
          <a:ln w="12700">
            <a:solidFill>
              <a:srgbClr val="1F3E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90872" y="2688336"/>
            <a:ext cx="2779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 예측 → 제거  ×K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2743200"/>
            <a:ext cx="640080" cy="502920"/>
          </a:xfrm>
          <a:prstGeom prst="rightArrow">
            <a:avLst/>
          </a:prstGeom>
          <a:solidFill>
            <a:srgbClr val="2E5A88"/>
          </a:solidFill>
          <a:ln w="12700">
            <a:solidFill>
              <a:srgbClr val="2E5A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641080" y="2560320"/>
            <a:ext cx="3017520" cy="868680"/>
          </a:xfrm>
          <a:prstGeom prst="roundRect">
            <a:avLst>
              <a:gd name="adj" fmla="val 7368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05672" y="2688336"/>
            <a:ext cx="26883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r>
              <a:rPr lang="en-US" sz="1300" b="1" baseline="30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행동 시퀀스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5431536" cy="1554480"/>
          </a:xfrm>
          <a:prstGeom prst="roundRect">
            <a:avLst>
              <a:gd name="adj" fmla="val 4118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67512" y="385876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학습은 반대 방향으로 만든다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" y="4169664"/>
            <a:ext cx="5102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데이터에 노이즈를 조금씩 섞어 가는 과정을 정의해 놓고, 각 단계에서 무엇이 섞였는지 맞히는 법을 배운다.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4496" y="3749040"/>
            <a:ext cx="5431536" cy="1554480"/>
          </a:xfrm>
          <a:prstGeom prst="roundRect">
            <a:avLst>
              <a:gd name="adj" fmla="val 4118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19088" y="385876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소박할 만큼 대담한 발상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9088" y="4169664"/>
            <a:ext cx="5102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"이미지 = 픽셀 값의 배열"을 </a:t>
            </a: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"행동 시퀀스 = 로봇 명령 값의 배열"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바꿔 끼우면, 이미지 생성을 평정한 같은 기계가 로봇 행동도 빚을 수 있지 않을까.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 DDPM 한 걸음씩 — 세 줄이 전부다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§2.1–2.2 · Eq 1–3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1183112" cy="1261872"/>
          </a:xfrm>
          <a:prstGeom prst="roundRect">
            <a:avLst>
              <a:gd name="adj" fmla="val 5072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34416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[추론 = 생성]  노이즈에서 시작해 K번 반복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165506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xᵏ⁻¹ = α( xᵏ − γ·εθ(xᵏ, k) + N(0, σ²I) )   (Eq 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02536"/>
            <a:ext cx="10817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"예측한 노이즈 εθ를 γ만큼 빼고, 소량의 노이즈를 다시 섞는다"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624328"/>
            <a:ext cx="11183112" cy="1261872"/>
          </a:xfrm>
          <a:prstGeom prst="roundRect">
            <a:avLst>
              <a:gd name="adj" fmla="val 5072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67512" y="2734056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[같은 식의 다른 독법]  노이즈 있는 경사 하강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304495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x′ = x − γ·∇E(x)   (Eq 2)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392424"/>
            <a:ext cx="10817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εθ가 에너지의 그래디언트 장을 예측하는 셈 — Stochastic Langevin Dynamics. α·γ·σ의 단계별 값(noise schedule)은 학습률 스케줄에 해당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014216"/>
            <a:ext cx="11183112" cy="1261872"/>
          </a:xfrm>
          <a:prstGeom prst="roundRect">
            <a:avLst>
              <a:gd name="adj" fmla="val 5072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7512" y="4123944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[학습]  회귀 한 방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443484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MSE( εᵏ, εθ( x⁰ + εᵏ, k ) )   (Eq 3)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782312"/>
            <a:ext cx="10817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데이터에 임의 단계 k의 노이즈를 섞고, 무엇을 섞었는지 맞히는 MSE — 이 단순한 손실이 KL 발산의 변분 하한을 최소화(Ho et al. 2020)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431536"/>
            <a:ext cx="11183112" cy="841248"/>
          </a:xfrm>
          <a:prstGeom prst="roundRect">
            <a:avLst>
              <a:gd name="adj" fmla="val 7609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67512" y="5559552"/>
            <a:ext cx="10853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negative sample도, 정규화 상수도, 적대적 게임도 없다 —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"회귀 한 방"이라는 사실이 4.4절 학습 안정성의 뿌리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  score와 EBM, 미리 한 줌 (4.4절 예습)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§4.4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31536" cy="2651760"/>
          </a:xfrm>
          <a:prstGeom prst="roundRect">
            <a:avLst>
              <a:gd name="adj" fmla="val 2414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38988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기반 모델(EBM)과 Z의 저주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510235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분포를 p(a|o) ∝ exp(−E(o,a))로 두는 모델 — 낮은 에너지 = 그럴듯한 행동.
문제는 확률로 만들기 위한 분모,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상수 Z(o,θ)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계산이 불가능해 negative sample로 근사해야 하고(InfoNCE), </a:t>
            </a: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부정확함이 학습을 흔든다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IBC의 고질병.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280160"/>
            <a:ext cx="5431536" cy="2651760"/>
          </a:xfrm>
          <a:prstGeom prst="roundRect">
            <a:avLst>
              <a:gd name="adj" fmla="val 2414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19088" y="138988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function의 마법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19088" y="1700784"/>
            <a:ext cx="510235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= ∇ₐ log p(a|o), 로그확률의 기울기.
로그를 미분하는 순간 </a:t>
            </a: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Z가 통째로 사라진다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(상수의 미분 = 0). 확산 모델의 εθ는 (부호만 반대인) score를 근사하므로,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Z와 싸울 일이 없다.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11183112" cy="1097280"/>
          </a:xfrm>
          <a:prstGeom prst="roundRect">
            <a:avLst>
              <a:gd name="adj" fmla="val 5833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512" y="4288536"/>
            <a:ext cx="10853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예고:  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한 줌이 4.4(학습 안정성 — Z가 학습에도 추론에도 등장하지 않음)와 FAQ Q6(IBC는 왜 지는가)의 열쇠다. 지금은 "로그 미분이 Z를 지운다"만 기억하면 충분.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  DDIM, 그리고 함께 알아둘 용어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§3.4 · 2.5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1183112" cy="1371600"/>
          </a:xfrm>
          <a:prstGeom prst="roundRect">
            <a:avLst>
              <a:gd name="adj" fmla="val 4667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34416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DDIM — 학습 반복수와 추론 반복수의 분리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1655064"/>
            <a:ext cx="10853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DDPM 그대로면 행동 하나에 네트워크를 K(=100)번 — 실시간 제어엔 치명적. DDIM은 </a:t>
            </a: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학습은 100단계로 하되, 추론은 10~16회만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샘플을 뽑는 결정적 샘플러. 실물: 학습 100/추론 10으로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 3080에서 지연 약 0.1초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"느려서 로봇엔 못 쓴다"는 첫인상을 꺾는 첫째 장치다(둘째 장치는 3.2절의 시퀀스 예측).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11183112" cy="3017520"/>
          </a:xfrm>
          <a:prstGeom prst="roundRect">
            <a:avLst>
              <a:gd name="adj" fmla="val 2121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7512" y="289864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  용어 정리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3209544"/>
            <a:ext cx="1085392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Receding horizon control(후퇴 지평 제어)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긴 계획을 세우되 앞부분만 실행, 새 관측이 오면 나머지를 버리고 재계획 — MPC의 뼈대. DP의 실행 방식이 정확히 이것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 / Tp / Ta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관측 지평(최근 To스텝 조건) / 예측 지평(Tp스텝 생성) / 실행 지평(앞 Ta스텝만 실행). 이 논문 실전값: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To=2, Tp=16, Ta=8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FiLM 조건화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조건(관측 특징)이 각 층의 채널을 스케일·시프트로 조종하는 주입 방식 — CNN판의 관측 주입 방법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제어 vs 속도 제어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행동을 "가야 할 포즈"로 줄 것인가 "지금 속도"로 줄 것인가 — ACT 편 2.5절 절대 목표 논의와 같은 축, 4.2절에서 판가름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5916168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지금 열어 보기: 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DDPM 원 논문 (2006.11239)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Lilian Weng의 확산 모델 해설 — 그림이 좋은 입문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DDIM (2010.02502)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 개조는 딱 두 가지 — DDPM을 정책으로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§2.3 · Eq 4–5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생성용 DDPM을 시각운동 정책으로 바꾸는 데 필요한 개조는 둘뿐이다: ① 출력 x를 </a:t>
            </a:r>
            <a:r>
              <a:rPr lang="en-US" sz="13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시퀀스 Aₜ</a:t>
            </a: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 ② 노이즈 제거 과정을 </a:t>
            </a:r>
            <a:r>
              <a:rPr lang="en-US" sz="13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Oₜ에 조건화</a:t>
            </a: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4572000" cy="1417320"/>
          </a:xfrm>
          <a:prstGeom prst="roundRect">
            <a:avLst>
              <a:gd name="adj" fmla="val 4516"/>
            </a:avLst>
          </a:prstGeom>
          <a:solidFill>
            <a:srgbClr val="E9EDF3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67512" y="1938528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DDPM (이미지 생성)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εθ( xᵏ, k 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49240" y="2286000"/>
            <a:ext cx="822960" cy="502920"/>
          </a:xfrm>
          <a:prstGeom prst="rightArrow">
            <a:avLst/>
          </a:prstGeom>
          <a:solidFill>
            <a:srgbClr val="2E5A88"/>
          </a:solidFill>
          <a:ln w="12700">
            <a:solidFill>
              <a:srgbClr val="2E5A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46520" y="1828800"/>
            <a:ext cx="5239512" cy="1417320"/>
          </a:xfrm>
          <a:prstGeom prst="roundRect">
            <a:avLst>
              <a:gd name="adj" fmla="val 4516"/>
            </a:avLst>
          </a:prstGeom>
          <a:solidFill>
            <a:srgbClr val="EEF3FA"/>
          </a:solidFill>
          <a:ln w="12700">
            <a:solidFill>
              <a:srgbClr val="2E5A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11112" y="193852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Diffusion Policy (행동 생성)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εθ( </a:t>
            </a:r>
            <a:r>
              <a:rPr lang="en-US" sz="15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Oₜ</a:t>
            </a: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00" b="1" dirty="0">
                <a:solidFill>
                  <a:srgbClr val="1F3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Aₜ</a:t>
            </a: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ᵏ, k 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11183112" cy="1463040"/>
          </a:xfrm>
          <a:prstGeom prst="roundRect">
            <a:avLst>
              <a:gd name="adj" fmla="val 4375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7512" y="363016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개조된 두 식 — 이것이 공식화의 전부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391363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추론(Eq 4):  Aₜᵏ⁻¹ = α( Aₜᵏ − γ·εθ(Oₜ, Aₜᵏ, k) + N(0, σ²I) 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4315968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학습(Eq 5):  L = MSE( εᵏ, εθ(Oₜ, Aₜ⁰ + εᵏ, k) 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516636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 1·3에 조건 Oₜ가 들어간 것 외엔 그대로다. DDPM의 이론과 도구(스케줄, DDIM)를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상속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것이 이 최소 개조의 실익.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 폐루프 행동 시퀀스 — To 보고, Tp 그리고, Ta만 실행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§2.3 · Fig. 2a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67344" y="1225296"/>
            <a:ext cx="3247949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figs_dp/fig2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1280160"/>
            <a:ext cx="3138221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67344" y="5001768"/>
            <a:ext cx="32479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 et al., RSS 2023 — Fig. 2(a)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920" y="1371600"/>
            <a:ext cx="7635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Oₜ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최근 To=2 스텝의 (이미지 + 로봇 상태)를 조건으로</a:t>
            </a:r>
            <a:endParaRPr lang="en-US" sz="12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확산 K회 반복: 노이즈 Aᵏ → 행동 시퀀스 A⁰ —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Tp=16 스텝을 통째로</a:t>
            </a:r>
            <a:endParaRPr lang="en-US" sz="12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그중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Ta=8 스텝만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</a:t>
            </a:r>
            <a:endParaRPr lang="en-US" sz="12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재계획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Ta 뒤, 새 관측으로 나머지 예측을 버리고 전체 재계획 =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receding horizon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(이전 예측으로 warm-start 가능)</a:t>
            </a:r>
            <a:endParaRPr lang="en-US" sz="12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의도는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 생성 안에서 Tp스텝이 서로 정합)과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반응성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(Ta마다 폐루프 재계획)의 절충 — Ta가 그 손잡이이고, 실험 최적값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8스텝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(5.3절)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5349240"/>
            <a:ext cx="11183112" cy="96012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67512" y="5477256"/>
            <a:ext cx="10853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ACT와의 대응을 지금 잡아 두자 — ACT: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k=100 + temporal ensemble(같은 시점 예측을 가중평균)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vs  DP: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Tp=16 + receding horizon(버리고 다시 뽑기)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왜 DP는 평균하지 않는가 — 답은 FAQ Q2에.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  시각 조건화 — 관측은 조건이지, 출력이 아니다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§2.3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31536" cy="2286000"/>
          </a:xfrm>
          <a:prstGeom prst="roundRect">
            <a:avLst>
              <a:gd name="adj" fmla="val 2800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38988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연구 — 결합분포 p(A, O)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510235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확산을 로봇에 쓴 planning 계열(Janner et al.)은 관측·행동의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결합분포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모델링했다. 그러면 </a:t>
            </a:r>
            <a:r>
              <a:rPr lang="en-US" sz="12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미래의 관측(= 이미지!)까지 생성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해서 느리고, 행동의 정확도도 떨어진다.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1280160"/>
            <a:ext cx="5431536" cy="2286000"/>
          </a:xfrm>
          <a:prstGeom prst="roundRect">
            <a:avLst>
              <a:gd name="adj" fmla="val 2800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19088" y="138988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Diffusion Policy — 조건부 p(Aₜ | Oₜ)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19088" y="1700784"/>
            <a:ext cx="510235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분포만 모델링한다: 시각 특징은 K번의 반복과 무관하게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 추출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노이즈 제거는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저차원 행동 공간에서만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11183112" cy="1417320"/>
          </a:xfrm>
          <a:prstGeom prst="roundRect">
            <a:avLst>
              <a:gd name="adj" fmla="val 4516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512" y="395020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선택 하나에서 나오는 세 가지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" y="4261104"/>
            <a:ext cx="108539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추론 속도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(이미지를 K번 생성할 일이 없다)  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생성 정확도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(행동에만 용량 집중)  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비전 인코더의 end-to-end 학습 가능성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5.3절 인코더 ablation("frozen 사전학습이 안 되는 이유")의 복선.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  노이즈 예측 네트워크 두 벌 — CNN판과 Transformer판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§3.1 · Fig. 2b·c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" y="1243584"/>
            <a:ext cx="2405101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figs_dp/fig2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2295373" cy="2286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63469" y="1243584"/>
            <a:ext cx="334121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home/claude/figs_dp/fig2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333" y="1298448"/>
            <a:ext cx="3231490" cy="2286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" y="3675888"/>
            <a:ext cx="59566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 et al., RSS 2023 — Fig. 2 (b: CNN판 · c: Transformer판)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949440" y="1298448"/>
            <a:ext cx="4736592" cy="1481328"/>
          </a:xfrm>
          <a:prstGeom prst="roundRect">
            <a:avLst>
              <a:gd name="adj" fmla="val 4321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114032" y="1408176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CNN판 (기본 추천)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114032" y="1719072"/>
            <a:ext cx="44074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1D temporal CNN(U-Net식). Oₜ와 단계 k를 </a:t>
            </a: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FiLM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각 층에 주입. 하이퍼 거의 안 만져도 잘 돈다 — 단, 저주파 편향 탓에 급변 행동(특히 속도 제어)은 </a:t>
            </a: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뭉갠다(over-smoothing)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949440" y="2907792"/>
            <a:ext cx="4736592" cy="1481328"/>
          </a:xfrm>
          <a:prstGeom prst="roundRect">
            <a:avLst>
              <a:gd name="adj" fmla="val 4321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7114032" y="3017520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Transformer판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114032" y="3328416"/>
            <a:ext cx="44074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minGPT식 디코더. 노이즈 낀 행동 Aᵏ가 입력 토큰, k는 첫 토큰, Oₜ는 각 블록 </a:t>
            </a: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cross-attention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주입(인과 마스크). 복잡·고주파 과제에서 최고 — 대신 하이퍼파라미터에 민감.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" y="4617720"/>
            <a:ext cx="11183112" cy="1554480"/>
          </a:xfrm>
          <a:prstGeom prst="roundRect">
            <a:avLst>
              <a:gd name="adj" fmla="val 4118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667512" y="472744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논문의 권고 — 인용할 만한 실전 가이드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67512" y="5038344"/>
            <a:ext cx="10853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"새 과제는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CNN판부터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시작하고, 안 되면 Transformer판으로."  비전 인코더는 두 벌 공통: 카메라당 ResNet-18(사전학습 없음), </a:t>
            </a: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 softmax + GroupNorm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정책과 end-to-end 공동 학습 — To장의 이미지를 한 번만 인코딩해 Oₜ를 만든다.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  나머지 설계 디테일 — 겪어 본 사람만 아는 것들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§3.2–3.3 · App. 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83112" cy="3154680"/>
          </a:xfrm>
          <a:prstGeom prst="roundRect">
            <a:avLst>
              <a:gd name="adj" fmla="val 2029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408176"/>
            <a:ext cx="10853928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인코더 개조 2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global average pooling →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 softmax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(공간 정보 보존), BatchNorm →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GroupNorm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DDPM 관행인 EMA와 BatchNorm의 궁합이 나빠 그대로 두면 학습이 불안정해진다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스케줄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iDDPM의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Square Cosine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행동 신호의 고/저주파 특성을 잡는 데 가장 좋았다고 보고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(App. A.1)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행동 각 차원 min-max를 [−1, 1]로. DDPM이 매 반복 [−1,1] 클리핑하므로, </a:t>
            </a: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zero-mean unit-variance를 쓰면 행동 공간 일부가 아예 도달 불가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구현 시 가장 흔한 함정. 회전은 6D 표현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감각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확산망 CNN판 시뮬 256M/실물 67M · Transformer판 9M(Kitchen 80M) · 인코더 ResNet-18 22M/캠. 학습 state 4500·image 3000 에폭 — ACT(80M·5시간)보다 무겁지만 여전히 "랩 GPU에서 도는" 체급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663440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7512" y="4791456"/>
            <a:ext cx="10853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관점 요약:  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목록이 곧 LeRobot 재현 시 체크리스트다 — 특히 min-max 정규화와 GroupNorm은 빠뜨리면 "왜 안 되지"의 단골 원인.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4.1  다봉 분포를 ‘표현’하는 것과 ‘커밋’하는 것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§4.1 · Fig.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" y="1243584"/>
            <a:ext cx="7059168" cy="2683881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figs_dp/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6949440" cy="257415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8056" y="3936609"/>
            <a:ext cx="7059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 et al., RSS 2023 — Fig. 3 (Push-T 롤아웃: 좌·우 두 모드)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772400" y="1298448"/>
            <a:ext cx="3913632" cy="2560320"/>
          </a:xfrm>
          <a:prstGeom prst="roundRect">
            <a:avLst>
              <a:gd name="adj" fmla="val 2500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936992" y="1408176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비교군의 실패 양상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936992" y="1719072"/>
            <a:ext cx="358444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LSTM-GMM · IBC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한쪽 모드로 </a:t>
            </a:r>
            <a:r>
              <a:rPr lang="en-US" sz="11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되어 다른 길을 잃는다.
</a:t>
            </a:r>
            <a:r>
              <a:rPr lang="en-US" sz="11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BeT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시간적 일관성이 없어 </a:t>
            </a:r>
            <a:r>
              <a:rPr lang="en-US" sz="11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모드에 커밋하지 못하고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궤적 사이를 오간다.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420624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T블록 아래쪽으로 가려면 왼쪽으로 돌아도, 오른쪽으로 돌아도 정답이다. 논문의 백미인 이 롤아웃 시각화: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DP는 좌·우 두 모드를 모두 배우되, 한 번의 롤아웃 안에서는 하나에 커밋한다.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다봉성의 원천은 둘 — 초기 노이즈 샘플이 "어느 수렴 분지로 갈지"를 고르고, 반복 중의 확률적 섭동이 분지 사이 이동을 허용한다.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5257800"/>
            <a:ext cx="11183112" cy="1005840"/>
          </a:xfrm>
          <a:prstGeom prst="roundRect">
            <a:avLst>
              <a:gd name="adj" fmla="val 6364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67512" y="5385816"/>
            <a:ext cx="10853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ACT 편 4.4절과 정확히 대구: CVAE는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z=0으로 대표 모드 하나(결정적)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DP는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실행 초기 노이즈가 봉우리를 고르는 진짜 샘플링(확률적)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차이가 실행 전략(temporal ensemble vs receding horizon)의 차이로 이어진다.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  위치 제어와의 시너지 — 통념을 뒤집은 그림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§4.2 · Fig.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08976" y="1243584"/>
            <a:ext cx="3904488" cy="2476571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figs_dp/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298448"/>
            <a:ext cx="3794760" cy="23668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08976" y="3729299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 et al., RSS 2023 — Fig. 4 (속도→위치 전환 시 성능 변화)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920" y="132588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당시 행동복제 문헌의 대세는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제어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였다. 그런데 Fig. 4의 결과: 속도→위치 제어로 바꾸면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LSTM-GMM과 BeT는 성능이 떨어지는데, Diffusion Policy는 오히려 올라간다.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2697480"/>
            <a:ext cx="7040880" cy="1005840"/>
          </a:xfrm>
          <a:prstGeom prst="roundRect">
            <a:avLst>
              <a:gd name="adj" fmla="val 6364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67512" y="2807208"/>
            <a:ext cx="671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 ①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7512" y="3099816"/>
            <a:ext cx="6711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제어에서는 행동 다봉성이 더 도드라진다 — DP는 다봉성에 강하니 부작용에서 자유롭고, 장점만 취한다.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920" y="3840480"/>
            <a:ext cx="7040880" cy="1005840"/>
          </a:xfrm>
          <a:prstGeom prst="roundRect">
            <a:avLst>
              <a:gd name="adj" fmla="val 6364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67512" y="3950208"/>
            <a:ext cx="671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 ②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" y="4242816"/>
            <a:ext cx="6711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제어는 속도 제어보다 오차 누적에 강해, 시퀀스 예측과 궁합이 좋다.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5029200"/>
            <a:ext cx="11183112" cy="1051560"/>
          </a:xfrm>
          <a:prstGeom prst="roundRect">
            <a:avLst>
              <a:gd name="adj" fmla="val 6087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67512" y="5157216"/>
            <a:ext cx="108539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ACT가 "델타보다 절대 관절 목표"에서 얻은 관찰과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결론을 엔드이펙터 공간에서 재확인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서로 다른 두 팀의 독립 수렴이라 무게가 실리고, 이후 분야가 위치/절대 표현으로 기우는 근거가 된다(FAQ Q4).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4.3  행동 시퀀스 예측의 이득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§4.3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시퀀스(고차원 출력) 예측은 대부분의 방법에게 난제다 — IBC는 비매끈한 에너지 지형에서의 고차원 샘플링이 어렵고, GMM·k-means 계열은 모드 개수를 미리 지정해야 한다. 반면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DDPM은 이미지 생성에서 증명됐듯 출력 차원에 강하다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그래서 DP는 행동을 자연스럽게 고차원 시퀀스로 표현하고, 두 문제가 함께 풀린다.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5431536" cy="2103120"/>
          </a:xfrm>
          <a:prstGeom prst="roundRect">
            <a:avLst>
              <a:gd name="adj" fmla="val 3043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67512" y="230428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시간적 행동 일관성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2615184"/>
            <a:ext cx="5102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스텝별로 독립적인 다봉 예측을 하면(BC-RNN·BeT), 연속 스텝이 서로 다른 모드에서 뽑혀 좌·우 궤적 사이를 오가는 </a:t>
            </a: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떨림(jitter)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생긴다. 시퀀스로 한 번에 뽑으면 </a:t>
            </a: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모드 안에서 정합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4496" y="2194560"/>
            <a:ext cx="5431536" cy="2103120"/>
          </a:xfrm>
          <a:prstGeom prst="roundRect">
            <a:avLst>
              <a:gd name="adj" fmla="val 3043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19088" y="230428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idle 행동 강건성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19088" y="2615184"/>
            <a:ext cx="5102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시연자의 멈칫거림은 teleop에 흔하고, 액체 붓기처럼 </a:t>
            </a: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과제가 요구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하기도 한다. 단일 스텝 정책은 이 "멈춤"에 과적합해 실행 중 </a:t>
            </a: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하염없이 정지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 — BC-RNN·IBC가 실물에서 실제로 겪는 일(5.4절).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526280"/>
            <a:ext cx="11183112" cy="1143000"/>
          </a:xfrm>
          <a:prstGeom prst="roundRect">
            <a:avLst>
              <a:gd name="adj" fmla="val 5600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7512" y="4654296"/>
            <a:ext cx="108539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편 2.2절 멈칫거림 문제의 DP식 해법:  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ACT는 청크로, DP는 시퀀스 생성으로 —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문제를 출력 쪽에서 흡수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 두 논문이 독립적으로 같은 처방에 도달한 두 번째 지점.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4.4  학습 안정성 — Z와 싸우지 않는 법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§4.4 · Eq 6–8 · Fig.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260336" y="1243584"/>
            <a:ext cx="4453128" cy="239140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figs_dp/fi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98448"/>
            <a:ext cx="4343400" cy="228167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60336" y="3644133"/>
            <a:ext cx="4453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 et al., RSS 2023 — Fig. 6 (IBC vs DP 학습 곡선)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920" y="137160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IBC의 고통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InfoNCE 손실은 Z(o,θ)를 negative sample로 근사 — 그 부정확함이 학습을 흔든다: 오차가 튀고, 평가가 진동하고,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선택이 도박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된다(실물에선 후보 정책 여러 개를 로봇에 올려 골라야 하는 비용으로 직결)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DP의 우회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∇ₐ log p = −∇ₐE − ∇ₐ log Z 에서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∇ₐ log Z = 0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εθ는 Z와 무관한 score만 근사하면 되고, </a:t>
            </a: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학습(Eq 5)에도 추론(Eq 4)에도 Z가 아예 등장하지 않는다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6이 체감판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IBC는 손실이 잘 떨어지는데도 행동 예측 정확도가 오르지 않는다 — DP는 안정적으로 수렴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보너스: </a:t>
            </a: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"최적 하이퍼파라미터가 과제 간 거의 일정"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(§5.3) — 이식성의 근거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4892040"/>
            <a:ext cx="11183112" cy="1097280"/>
          </a:xfrm>
          <a:prstGeom prst="roundRect">
            <a:avLst>
              <a:gd name="adj" fmla="val 5833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67512" y="5020056"/>
            <a:ext cx="10853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이 논문에서 가장 일반화 가치가 큰 교훈 —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표현력만큼 "안정적으로 학습되는가"가 방법의 운명을 가른다.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  제어이론과의 연결 (확장판 추가 절)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§4.5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83112" cy="1783080"/>
          </a:xfrm>
          <a:prstGeom prst="roundRect">
            <a:avLst>
              <a:gd name="adj" fmla="val 3590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38988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Sanity check — 단순한 문제에서 옳은 답을 내는가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108539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동역학 sₜ₊₁ = A·sₜ + B·aₜ + wₜ 에 LQR류 선형 피드백 정책 a = −K·s 의 시연을 먹이는 극단적으로 단순한 상황: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Tp=1이면 최적 denoiser의 닫힌형이 유도되고, DDIM 샘플링이 정확히 a = −Ks로 수렴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 — 확산이라는 무거운 도구가 단순한 문제에서 정답을 회복한다.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11183112" cy="16002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7512" y="335584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흥미로운 것 — Tp &gt; 1의 함의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3666744"/>
            <a:ext cx="108539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행동 aₜ₊ₜ′ = −K(A−BK)ᵗ′·sₜ 를 현재 상태만으로 맞히려면,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정책은 (과제 관련) 동역학 모델을 암묵적으로 배워야 한다.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그리고 플랜트나 정책이 비선형이면 미래 예측은 다시 다봉이 된다 — 시퀀스 예측과 다봉 표현이 왜 한 세트인지의 이론적 근거.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029200"/>
            <a:ext cx="11183112" cy="1097280"/>
          </a:xfrm>
          <a:prstGeom prst="roundRect">
            <a:avLst>
              <a:gd name="adj" fmla="val 5833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512" y="5157216"/>
            <a:ext cx="10853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"시퀀스 예측 = 암묵적 동역학 학습"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ACT 편 이래 경험적으로만 확인해 온 "청킹은 왜 잘 되는가"에 대한 드문 이론적 힌트. 미래를 그리게 하는 것 자체가 세계 모델을 강요한다 — world model 계열과 이어 읽을 고리.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5.1  벤치마크 한 상 — 4개 스위트 15개 과제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§5.1 · Table 3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27432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벤치마크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구성과, 무엇을 시험하는가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Robomimic (5과제 9변형)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Lift·Can·Square·Transport·ToolHang — 숙련(PH)·혼합(MH) teleop 데모, state·image 각각 평가. 모방학습 표준 스위트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Push-T (IBC 계승)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T블록을 점접촉으로 고정 목표에 밀어 넣기 — 접촉 풍부·고정밀. 지표는 성공률 대신 목표 영역 커버리지(IoU)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Multimodal Block Push (BeT 계승)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블록 2개를 임의 순서로 두 사각형에 — 장지평 다봉성 전용 시험대. 스크립트 오라클 데모 1,000개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Franka Kitchen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7개 물체, 과제 4개를 임의 순서로 완수 — 단기+장기 다봉성 종합. 사람 데모 566개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4297680"/>
            <a:ext cx="11183112" cy="16002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67512" y="440740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방법론이 모범적이다 — 따로 짚는 이유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7512" y="4718304"/>
            <a:ext cx="108539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베이스라인은 </a:t>
            </a: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 모든 출처 중 최고 성적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(원 논문 보고치 vs 재현치 중 좋은 쪽)과 비교하고, DP는 </a:t>
            </a:r>
            <a:r>
              <a:rPr lang="en-US" sz="12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10개 체크포인트 평균 × 시드 3 × 초기조건 50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(약 1,500회)으로 보고 — </a:t>
            </a:r>
            <a:r>
              <a:rPr lang="en-US" sz="1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체리피킹을 스스로 배제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설계. 각 방법은 자기에게 가장 유리한 행동공간으로 평가한다(DP는 위치, 베이스라인은 속도).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  시뮬 종합 성적 — 전 과제 1위, 평균 +46.9%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§5.2 · Table 1·2·4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949440" cy="281635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(관측·지표)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 베이스라인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Diffusion Policy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Push-T (state, 커버리지)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IBC 0.90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 (CNN판)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ToolHang (image, PH)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LSTM-GMM 0.68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 (CNN판)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Transport (image, MH)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LSTM-GMM 0.44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 (CNN판)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 Push p2 (state)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BeT 0.71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 (Transformer판)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Kitchen p4 (state)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BeT 0.44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 (CNN판)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15과제 종합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과제 1위, 평균 +46.9%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26680" y="1280160"/>
            <a:ext cx="3959352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891272" y="1389888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 ①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91272" y="1700784"/>
            <a:ext cx="3630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state·image를 가리지 않고 모든 과제 1위 — 특정 세팅 과적합이 아니라는 뜻.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26680" y="2834640"/>
            <a:ext cx="3959352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891272" y="2944368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 ②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91272" y="3255264"/>
            <a:ext cx="3630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격차는 어려운 지표에서 벌어진다: Block p2 </a:t>
            </a:r>
            <a:r>
              <a:rPr lang="en-US" sz="10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+32%</a:t>
            </a: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Kitchen p4 </a:t>
            </a:r>
            <a:r>
              <a:rPr lang="en-US" sz="10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+213%</a:t>
            </a: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장지평 다봉성이야말로 단일 함수 사상으론 안 되는 지점.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26680" y="4389120"/>
            <a:ext cx="3959352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891272" y="4498848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 ③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891272" y="4809744"/>
            <a:ext cx="3630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CNN판 무난 강세, 복잡·고주파는 Tf판. 속도 제어 Block Push에서 CNN 붕괴(0.36/0.11) vs Tf 0.99/0.94 — </a:t>
            </a:r>
            <a:r>
              <a:rPr lang="en-US" sz="10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저주파 편향이 숫자로</a:t>
            </a: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160520"/>
            <a:ext cx="6949440" cy="1645920"/>
          </a:xfrm>
          <a:prstGeom prst="roundRect">
            <a:avLst>
              <a:gd name="adj" fmla="val 3889"/>
            </a:avLst>
          </a:prstGeom>
          <a:solidFill>
            <a:srgbClr val="FDEDEC"/>
          </a:solidFill>
          <a:ln w="12700">
            <a:solidFill>
              <a:srgbClr val="F5C6C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67512" y="4270248"/>
            <a:ext cx="6620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46.9%의 정체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7512" y="4581144"/>
            <a:ext cx="66202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과제별 (DP 최고 − 기존 최고)/기존 최고 의 평균(App. B.2). 또 robomimic 계열은 평가 코드 버그로 초기조건 22개만 쓰였다는 각주가 있다(모든 방법 동일 조건이라 결론 불변이 저자 입장) — </a:t>
            </a:r>
            <a:r>
              <a:rPr lang="en-US" sz="11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숫자는 각주까지 챙겨 읽자.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  Ablation — 손잡이들은 어디에 있나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§5.3 · Fig. 5·14·15 · Table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" y="1225296"/>
            <a:ext cx="2973254" cy="45902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figs_dp/fi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2863526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8056" y="5824728"/>
            <a:ext cx="297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 et al., RSS 2023 — Fig. 5 (실행 지평 Ta · 지연 강건성)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77640" y="1280160"/>
            <a:ext cx="3717036" cy="1463040"/>
          </a:xfrm>
          <a:prstGeom prst="roundRect">
            <a:avLst>
              <a:gd name="adj" fmla="val 4375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142232" y="1389888"/>
            <a:ext cx="3387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Ta가 절충의 손잡이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42232" y="1700784"/>
            <a:ext cx="33878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Ta=1이면 일관성·idle 대응을 잃고, 너무 길면 반응이 느리다 — 대부분 8스텝이 최적. ACT의 k 스윕과 같은 모양의 곡선.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68996" y="1280160"/>
            <a:ext cx="3717036" cy="1463040"/>
          </a:xfrm>
          <a:prstGeom prst="roundRect">
            <a:avLst>
              <a:gd name="adj" fmla="val 4375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133588" y="1389888"/>
            <a:ext cx="3387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지연에 강하다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33588" y="1700784"/>
            <a:ext cx="33878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제어 DP는 지연 4스텝까지 피크 성능 유지. 속도 제어는 오차 누적 탓에 더 취약 — 4.2절 주장의 재확인.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77640" y="2880360"/>
            <a:ext cx="3717036" cy="1463040"/>
          </a:xfrm>
          <a:prstGeom prst="roundRect">
            <a:avLst>
              <a:gd name="adj" fmla="val 4375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142232" y="2990088"/>
            <a:ext cx="3387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To는 짧게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42232" y="3300984"/>
            <a:ext cx="33878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기반은 To에 둔감하지만, vision CNN판은 To를 늘릴수록 오히려 하락(Fig. 14). 실전 권장 To=2.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68996" y="2880360"/>
            <a:ext cx="3717036" cy="1463040"/>
          </a:xfrm>
          <a:prstGeom prst="roundRect">
            <a:avLst>
              <a:gd name="adj" fmla="val 4375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133588" y="2990088"/>
            <a:ext cx="3387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데이터 효율도 우위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33588" y="3300984"/>
            <a:ext cx="33878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40~200 에피소드 전 구간에서 LSTM-GMM을 앞선다(Fig. 15) — "확산이라 데이터가 더 필요하다"는 통념 반박.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977640" y="4480560"/>
            <a:ext cx="7708392" cy="1371600"/>
          </a:xfrm>
          <a:prstGeom prst="roundRect">
            <a:avLst>
              <a:gd name="adj" fmla="val 4667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142232" y="4590288"/>
            <a:ext cx="7379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비전 인코더는 finetune이 답 (Table 5, 확장판)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142232" y="4901184"/>
            <a:ext cx="7379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scratch 0.94 vs frozen 사전학습(R3M·ImageNet) 저조 vs </a:t>
            </a:r>
            <a:r>
              <a:rPr lang="en-US" sz="10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학습률 finetune이 최고</a:t>
            </a: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CLIP ViT-B/16은 50에폭 만에 98%. frozen이 안 되는 것은 "확산 정책이 원하는 시각 표현은 기성 표현과 다르다"는 신호 — 3.3절 end-to-end 설계의 사후 정당화.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5.4  실물 Push-T — 사람 수준의 95%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§6.1 · Fig. 7 · Table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" y="1243584"/>
            <a:ext cx="7424928" cy="364877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figs_dp/fig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7315200" cy="35390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8056" y="4901498"/>
            <a:ext cx="7424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 et al., RSS 2023 — Fig. 7 (핵심 이벤트별 궤적 비교)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092440" y="1298448"/>
            <a:ext cx="3593592" cy="1737360"/>
          </a:xfrm>
          <a:prstGeom prst="roundRect">
            <a:avLst>
              <a:gd name="adj" fmla="val 3684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257032" y="140817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(사람 최저 IoU 기준)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57032" y="1719072"/>
            <a:ext cx="32644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성공률  IBC </a:t>
            </a: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LSTM-GMM 20% · DP </a:t>
            </a:r>
            <a:r>
              <a:rPr lang="en-US" sz="110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95%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IoU  0.80 (사람 0.84)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 22.9초 (사람 20.3) — 근접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2440" y="3200400"/>
            <a:ext cx="3593592" cy="1645920"/>
          </a:xfrm>
          <a:prstGeom prst="roundRect">
            <a:avLst>
              <a:gd name="adj" fmla="val 3889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257032" y="3310128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실물판이 더 어려운 이유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57032" y="3621024"/>
            <a:ext cx="3264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다단계 — 밀어 넣은 뒤 EE를 엔드존으로 빼야(가림 방지) ② 완전 삽입 미세조정 = 추가 단기 다봉 ③ IoU를 마지막 스텝에 측정. UR5 · 데모 136 · 10Hz 예측→125Hz 보간.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166360"/>
            <a:ext cx="11183112" cy="1143000"/>
          </a:xfrm>
          <a:prstGeom prst="roundRect">
            <a:avLst>
              <a:gd name="adj" fmla="val 5600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67512" y="527608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분석이 값지다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7512" y="5586984"/>
            <a:ext cx="108539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베이스라인은 </a:t>
            </a:r>
            <a:r>
              <a:rPr lang="en-US" sz="11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전환 구간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무너진다 — LSTM-GMM은 T 옆에서 멈추고(20회 중 8회), IBC는 조기 이탈(6회). 이 과제는 요구사항상 </a:t>
            </a: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idle 행동을 데이터에서 지우지 않았는데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단일 스텝 계열이 그 멈춤에 과적합 — 4.3절 그대로. 인코더는 end-to-end 95 &gt; R3M frozen 80(떨림·멈춤) &gt; ImageNet frozen 15.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5.4′  교란 강건성 — 시연의 재생을 넘어, 새 행동의 합성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§6.1 · Fig. 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97496" y="1243584"/>
            <a:ext cx="4315968" cy="277409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figs_dp/fi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298448"/>
            <a:ext cx="4206240" cy="26643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97496" y="4026825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 et al., RSS 2023 — Fig. 8 (교란 실험)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920" y="1417320"/>
            <a:ext cx="6720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교란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카메라 앞을 손으로 3초 가려도 —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궤도를 유지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 과제를 계속한다</a:t>
            </a:r>
            <a:endParaRPr lang="en-US" sz="12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교란 ①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미는 도중 T블록을 옮기면 —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반대편에서 다시 민다</a:t>
            </a:r>
            <a:endParaRPr lang="en-US" sz="12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교란 ②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엔드존으로 가던 중 T를 옮기면 —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되돌아와 수정한 뒤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간다. </a:t>
            </a:r>
            <a:r>
              <a:rPr lang="en-US" sz="12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마지막 행동은 시연에 없던 것이다.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4480560"/>
            <a:ext cx="11183112" cy="128016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67512" y="4608576"/>
            <a:ext cx="10853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</a:t>
            </a:r>
            <a:r>
              <a:rPr lang="en-US" sz="1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"관측 조건부 생성"이 시연의 재생을 넘어 새 행동의 합성으로 이어질 수 있다</a:t>
            </a: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논문에서 가장 시사적인 장면. 폐루프(To=2 관측 조건) + 분포 학습의 조합이 만든 일반화다.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5870448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수업 중 재생: 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프로젝트 페이지 — 교란 실험·실물 7과제 영상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5.5  실물 확장 — 비강체·주기 동작, 그리고 양팔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§6.2–6.3 · §7 · Fig. 9–13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7223760" cy="332841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(플랫폼·데모)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Diffusion Policy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Mug Flip (Franka, 250)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3D 회전·운동학 한계 근처, grasp/push 뒤섞인 고다봉 데모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F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  (LSTM-GMM 0% — 정렬조차 실패)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6DoF Sauce Pour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idle(국자 채우기 대기) + 미세 조정 + 비강체(소스)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F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79% · IoU 0.74 (사람 0.79) — GMM 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Periodic Spread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나선형 주기 동작 + 자기 종료 — BC가 꺼리던 것들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F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 · 커버리지 0.77 (사람 0.79)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Egg Beater (양팔, 210)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햅틱 없인 전문가 teleop도 데모 0/10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F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 Unrolling (양팔, 162)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VR teleop, 좌·우 양방향(omnidextrous) 학습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F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Shirt Folding (양팔, 284)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9단계, 그리퍼 근접 — mid-level 충돌 회피 필수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F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54696" y="1225296"/>
            <a:ext cx="3858768" cy="3227951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home/claude/figs_dp/fig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280160"/>
            <a:ext cx="3749040" cy="31182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54696" y="4462391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 et al., RSS 2023 — Fig. 10 (소스 붓기·펴바르기)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667512" y="5020056"/>
            <a:ext cx="108539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두 과제는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Push-T 하이퍼파라미터를 그대로 들고 가 첫 시도에 성공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했고, 양팔 3과제도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"튜닝 없이 out of the box"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4.4절 안정성이 실물에서 갖는 의미(정책 후보를 로봇으로 골라내는 비용의 절감)가 여기서 드러난다.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5.5′  양팔 절의 숨은 주인공 — 정책이 아니라 teleop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§7 · Fig. 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" y="1243584"/>
            <a:ext cx="7424928" cy="314306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figs_dp/fig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7315200" cy="30333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8056" y="4395795"/>
            <a:ext cx="7424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 et al., RSS 2023 — Fig. 11 (Bimanual Egg Beater)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092440" y="1298448"/>
            <a:ext cx="3593592" cy="3017520"/>
          </a:xfrm>
          <a:prstGeom prst="roundRect">
            <a:avLst>
              <a:gd name="adj" fmla="val 2121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257032" y="140817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Egg Beater 데모 수집기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57032" y="1719072"/>
            <a:ext cx="326440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햅틱 피드백 없이는 </a:t>
            </a: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전문가도 0/10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크랭크 뽑힘 5회, 파지 상실 3회, 토크 한계 2회.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햅틱을 붙이자 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10/10</a:t>
            </a: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4892040"/>
            <a:ext cx="11183112" cy="1234440"/>
          </a:xfrm>
          <a:prstGeom prst="roundRect">
            <a:avLst>
              <a:gd name="adj" fmla="val 5185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67512" y="5020056"/>
            <a:ext cx="108539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</a:t>
            </a:r>
            <a:r>
              <a:rPr lang="en-US" sz="1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"데이터 수집 도구의 설계가 곧 데이터 품질의 설계"</a:t>
            </a: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ALOHA 편 3.2절의 교훈이 전혀 다른 하드웨어에서 그대로 재등장한다. 우리 랩 RM75 teleop 설계를 점검할 때 이 항목을 그대로 쓰자.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5.6  한계 정직하게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31536" cy="2194560"/>
          </a:xfrm>
          <a:prstGeom prst="roundRect">
            <a:avLst>
              <a:gd name="adj" fmla="val 2917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38988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행동복제의 상속 한계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51023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시연이 부실하면 정책도 부실하다 — 데이터 이상의 것을 만들지 못하는 BC의 천장을 그대로 물려받는다. 저자들은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 결합(negative 데이터 활용)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향후 과제로 지목.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1280160"/>
            <a:ext cx="5431536" cy="2194560"/>
          </a:xfrm>
          <a:prstGeom prst="roundRect">
            <a:avLst>
              <a:gd name="adj" fmla="val 2917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19088" y="138988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계산 비용과 추론 지연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19088" y="1700784"/>
            <a:ext cx="51023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LSTM-GMM 같은 경량 방법보다 무겁다. 시퀀스 예측 + DDIM으로 완화했지만 </a:t>
            </a:r>
            <a:r>
              <a:rPr lang="en-US" sz="12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고주파 제어에는 부족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있고, 새 노이즈 스케줄·솔버·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consistency model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가속 연구를 해법으로 지목.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11183112" cy="1417320"/>
          </a:xfrm>
          <a:prstGeom prst="roundRect">
            <a:avLst>
              <a:gd name="adj" fmla="val 4516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512" y="3831336"/>
            <a:ext cx="1085392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이 두 번째 한계가 이후 </a:t>
            </a:r>
            <a:r>
              <a:rPr lang="en-US" sz="1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π0가 flow matching(확산의 사촌, 추론 가속판)으로 옮겨 가는 직접적 복선</a:t>
            </a:r>
            <a:r>
              <a:rPr lang="en-US" sz="13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 — 여기까지 읽으면 3회차로 가는 다리가 놓인다.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904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· Diffusion Policy 한눈 비교 — 같은 질문, 두 개의 생성적 답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학습자료 6장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11183112" cy="50474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Diffusion Policy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RSS 2023 — Stanford·Berkeley·Meta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RSS 2023 — Columbia·TRI·MIT (확장판 IJRR)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질문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저가 하드웨어로 mm급 양팔 정밀 조작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다봉·고차원 행동 분포의 안정적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다봉 해법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CVAE — 잠재 z 1회 샘플, 실행 시 z=0 고정(결정적)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DDPM — 노이즈에서 K회 반복 정제, 실행 시에도 진짜 샘플링(확률적)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 시퀀스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k=100 (50Hz, 2초 분량)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Tp=16 예측 / Ta=8 실행 (10Hz)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폐루프 장치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temporal ensemble — 매 스텝 재질의, 같은 시점 예측 가중평균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receding horizon — Ta마다 나머지를 버리고 전체 재계획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 공간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관절 절대 위치 (양팔 14-DoF)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엔드이펙터 절대 포즈 (6D 회전 표현)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1스텝 (카메라 4대 + 관절)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To=2스텝 (카메라 + 로봇 상태)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손실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L1 재구성 + β·KL (2항, β 튜닝)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노이즈 예측 MSE (1항)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1패스, 약 0.01초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DDIM 10~16패스, 약 0.1초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무대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ALOHA 양팔 정밀 8과제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벤치마크 15과제 + 실물 7과제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5A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잘하는 것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mm급 접촉 정밀, 저지연·경량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다봉·장지평·비강체·주기 동작, 안정 학습, 재현 가능한 비교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통찰 3 — 두 답안이 가르쳐 주는 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502920" cy="502920"/>
          </a:xfrm>
          <a:prstGeom prst="ellipse">
            <a:avLst/>
          </a:prstGeom>
          <a:solidFill>
            <a:srgbClr val="E6A8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10451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해, 같은 학회에 나온, 같은 질문의 두 답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4440" y="201168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7E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"연속 행동 + 다봉 분포"에 ACT는 잠재변수 1회 생성으로, DP는 반복 정제로 답했다. 분포 표현력의 상한은 DP가 높고(임의 분포·진짜 샘플링), 추론 비용은 ACT가 압도적으로 싸다(1패스 vs K패스) — 이 트레이드오프가 이후 모든 "행동 헤드" 논쟁의 원형이다.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136392"/>
            <a:ext cx="502920" cy="502920"/>
          </a:xfrm>
          <a:prstGeom prst="ellipse">
            <a:avLst/>
          </a:prstGeom>
          <a:solidFill>
            <a:srgbClr val="E6A8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3154680"/>
            <a:ext cx="10451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방법이 달라도 결론이 수렴하는 지점을 보라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34440" y="361188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7E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행동은 시퀀스로(청킹), 표현은 절대 위치로, 폐루프는 유지 — 두 논문이 독립적으로 도달한 공통 결론이고, 그대로 분야의 표준 장비가 된다. ACT의 청킹 이식 실험과 DP의 Ta ablation은 같은 이야기의 양면.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736592"/>
            <a:ext cx="502920" cy="502920"/>
          </a:xfrm>
          <a:prstGeom prst="ellipse">
            <a:avLst/>
          </a:prstGeom>
          <a:solidFill>
            <a:srgbClr val="E6A8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4754880"/>
            <a:ext cx="10451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합류의 예고편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34440" y="521208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7E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이후의 VLA들은 "VLA 백본(폭) + 확산·흐름 행동 헤드(깊이)"로 두 진영을 결혼시킨다 — π0의 flow matching, GR00T N1의 diffusion 헤드가 그 현장(3~4회차). DP의 "느린 추론" 한계가 정확히 flow matching 채택의 동기라는 것까지 읽으면 계보가 완성된다.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7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 (1/2) — 속도, 평균, CVAE, 위치 제어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학습자료 7장 Q1–Q4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34416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매 주기마다 확산을 K번 돌리면 너무 느리지 않나?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1655064"/>
            <a:ext cx="10853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겹의 완화: ① DDIM으로 10~16회(3080에서 0.1초) ② 시퀀스를 뽑으므로 </a:t>
            </a:r>
            <a:r>
              <a:rPr lang="en-US" sz="11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호출은 Ta=8스텝에 한 번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 receding horizon+위치 제어로 지연 4스텝까지 성능 유지. 그래도 초고주파엔 부담(§9) — consistency 계열·π0 flow matching이 그 후속.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7512" y="2642616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ACT의 temporal ensemble 같은 평균은 왜 안 쓰나?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7512" y="2953512"/>
            <a:ext cx="10853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 출력은 확률적 샘플이라 서로 다른 시점의 청크를 평균하면 </a:t>
            </a: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간 평균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될 수 있다 — 왼쪽 궤적과 오른쪽 궤적의 평균은 정중앙 충돌 궤적. ACT는 z=0 결정적이라 평균이 안전했다. DP는 대신 "커밋했다가 Ta 뒤 통째로 재샘플".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31336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512" y="3941064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CVAE와 확산, 결국 뭐가 본질적으로 다른가?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7512" y="4251960"/>
            <a:ext cx="10853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층에서 갈린다 — </a:t>
            </a:r>
            <a:r>
              <a:rPr lang="en-US" sz="11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표현력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(z 하나에 압축·붕괴 위험 vs 임의 분포) · </a:t>
            </a:r>
            <a:r>
              <a:rPr lang="en-US" sz="11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(z=0 고정 vs 매번 진짜 샘플링) · </a:t>
            </a:r>
            <a:r>
              <a:rPr lang="en-US" sz="11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(ELBO 2항·β 튜닝 vs 노이즈 MSE 1항). 대가는 추론이 K배 무겁다는 것 하나.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5129784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67512" y="5239512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왜 위치 제어인가? 당시 문헌은 다 속도 제어였는데.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" y="5550408"/>
            <a:ext cx="10853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4가 답 — 베이스라인은 속도가, DP는 위치가 낫다. 다봉 부작용에 면역 + 오차 누적·지연에 강한 장점이 시퀀스 예측과 시너지(§4.2). </a:t>
            </a:r>
            <a:r>
              <a:rPr lang="en-US" sz="11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ACT의 절대 관절 목표와 독립 수렴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결론이라는 점이 중요.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7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 (2/2) — 확률성과 안전, IBC, 언어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학습자료 7장 Q5–Q7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1183112" cy="1371600"/>
          </a:xfrm>
          <a:prstGeom prst="roundRect">
            <a:avLst>
              <a:gd name="adj" fmla="val 4667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34416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 시작이 랜덤 노이즈면 실행마다 다른 행동 — 위험하지 않나?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1655064"/>
            <a:ext cx="10853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모드가 나올 수 있는 것은 맞고, </a:t>
            </a:r>
            <a:r>
              <a:rPr lang="en-US" sz="11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그것이 설계 의도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(다봉성 보존)다. 대신 ① 한 생성 안에서는 한 모드에 정합 커밋 ② Ta 실행 동안 계획 고정 ③ warm-start로 급변 완화. </a:t>
            </a: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안전은 정책 밖의 층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맡는다 — 실물도 mid-level 컨트롤러가 충돌 회피·관절 한계를 강제(App. D). 정책·안전 분리는 우리 7회차 안전 SOP와 같은 층 구조.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371600"/>
          </a:xfrm>
          <a:prstGeom prst="roundRect">
            <a:avLst>
              <a:gd name="adj" fmla="val 4667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7512" y="2825496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 IBC(EBM)도 다봉 표현이 되는데, 왜 확산이 이기나?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7512" y="3136392"/>
            <a:ext cx="10853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표현력은 이론상 비슷 — 갈린 것은 </a:t>
            </a: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 IBC는 Z를 negative sampling으로 근사해야 하고 그 부정확함이 학습을 흔든다(Fig. 6: 손실은 떨어지는데 예측을 못 맞히는 그림). 실물에선 체크포인트 선별 비용으로 직결. DP는 score를 배우므로 </a:t>
            </a:r>
            <a:r>
              <a:rPr lang="en-US" sz="11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Z가 학습·추론 어디에도 없다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(Eq 8). "안정적으로 학습되는가"가 운명을 갈랐다.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197096"/>
            <a:ext cx="11183112" cy="1371600"/>
          </a:xfrm>
          <a:prstGeom prst="roundRect">
            <a:avLst>
              <a:gd name="adj" fmla="val 4667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512" y="4306824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Q7. 언어 지시나 멀티태스크는? "T블록 밀어줘"라고 말로 시킬 수 있나?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7512" y="4617720"/>
            <a:ext cx="10853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 — ACT처럼 과제당 정책 하나, 언어 입력 없음. Kitchen·Block Push의 "멀티태스크성"은 </a:t>
            </a:r>
            <a:r>
              <a:rPr lang="en-US" sz="11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하위목표 순서의 다양성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지시 조건화가 아니다. 이 공백이 VLA 합류(통찰 ③)의 동기 — 3회차 OpenVLA·π0에서 채워진다.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5660136"/>
            <a:ext cx="11183112" cy="621792"/>
          </a:xfrm>
          <a:prstGeom prst="roundRect">
            <a:avLst>
              <a:gd name="adj" fmla="val 10294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67512" y="5788152"/>
            <a:ext cx="10853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Q8(우리 랩 RM75·G1 적용)은 다음 슬라이드에서 따로 —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3E63"/>
          </a:solidFill>
          <a:ln>
            <a:solidFill>
              <a:srgbClr val="1F3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7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0" y="310896"/>
            <a:ext cx="7936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Q8.  우리 랩(RM75·G1)에 적용한다면 무엇부터?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학습자료 7장 Q8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31536" cy="2377440"/>
          </a:xfrm>
          <a:prstGeom prst="roundRect">
            <a:avLst>
              <a:gd name="adj" fmla="val 2692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38988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그대로 시작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510235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LeRobot에 DP 구현 있음 — </a:t>
            </a:r>
            <a:r>
              <a:rPr lang="en-US" sz="11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 실습 프레임워크 그대로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권고대로 </a:t>
            </a:r>
            <a:r>
              <a:rPr lang="en-US" sz="11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CNN판부터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To=2 · Ta=8 · Tp=16, EE 위치 제어(6D 회전), DDIM 16회, min-max [−1,1]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레시피 </a:t>
            </a:r>
            <a:r>
              <a:rPr lang="en-US" sz="11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7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출발점으로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4496" y="1280160"/>
            <a:ext cx="5431536" cy="2377440"/>
          </a:xfrm>
          <a:prstGeom prst="roundRect">
            <a:avLst>
              <a:gd name="adj" fmla="val 2692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19088" y="138988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19088" y="1700784"/>
            <a:ext cx="510235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RM75 teleop 데이터에 </a:t>
            </a:r>
            <a:r>
              <a:rPr lang="en-US" sz="11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멈칫거림이 섞여도 굳이 지우지 말 것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DP는 견딘다(실물 Push-T의 교훈)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카메라는 </a:t>
            </a:r>
            <a:r>
              <a:rPr lang="en-US" sz="11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 + 손목 2대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 논문 실물 세팅과 같다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11183112" cy="1645920"/>
          </a:xfrm>
          <a:prstGeom prst="roundRect">
            <a:avLst>
              <a:gd name="adj" fmla="val 3889"/>
            </a:avLst>
          </a:prstGeom>
          <a:solidFill>
            <a:srgbClr val="FFF8E1"/>
          </a:solidFill>
          <a:ln w="12700">
            <a:solidFill>
              <a:srgbClr val="F2DF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512" y="404164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욕심을 내면 — 2회차 두 논문을 몸으로 잇는 실험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" y="4352544"/>
            <a:ext cx="10853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50~150개 데모로 </a:t>
            </a: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ACT와 DP를 나란히 학습해 성공률·지연·떨림을 재는 미니 A/B</a:t>
            </a:r>
            <a:r>
              <a:rPr lang="en-US" sz="12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오늘 비교표의 모든 행이 실험 변수가 된다. 5~7회차 실습 후보로 올려 두자.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57607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실습 준비:  </a:t>
            </a: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LeRobot — Diffusion Policy·ACT 구현 (4회차 프레임워크)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공식 코드 real-stanford/diffusion_policy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9079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읽을거리, 그리고 3회차로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학습자료 8장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31536" cy="2194560"/>
          </a:xfrm>
          <a:prstGeom prst="roundRect">
            <a:avLst>
              <a:gd name="adj" fmla="val 2917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7512" y="134416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3회차로 가는 다리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1655064"/>
            <a:ext cx="51023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DP의 느린 추론 → </a:t>
            </a:r>
            <a:r>
              <a:rPr lang="en-US" sz="11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π0의 flow matching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Physical Intelligence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언어의 공백(Q7) → </a:t>
            </a: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OpenVLA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π0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생각해 올 질문: </a:t>
            </a:r>
            <a:r>
              <a:rPr lang="en-US" sz="115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"확산과 flow matching은 무엇이 같고, 무엇이 다른가?"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4496" y="1234440"/>
            <a:ext cx="5431536" cy="2194560"/>
          </a:xfrm>
          <a:prstGeom prst="roundRect">
            <a:avLst>
              <a:gd name="adj" fmla="val 2917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19088" y="134416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읽을거리 이어달리기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19088" y="1655064"/>
            <a:ext cx="51023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DP3 (2403.03954)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관측을 포인트클라우드로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UMI (2402.10329)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핸드헬드 수집 장치 + DP, 야외 일반화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Consistency Policy (2405.07503)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추론을 소수 스텝으로 증류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11183112" cy="2194560"/>
          </a:xfrm>
          <a:prstGeom prst="roundRect">
            <a:avLst>
              <a:gd name="adj" fmla="val 2917"/>
            </a:avLst>
          </a:prstGeom>
          <a:solidFill>
            <a:srgbClr val="F6F8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7512" y="372160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 — 파란 글씨는 클릭해서 바로 열 수 있습니다 (전체 목록: 학습자료 8장)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" y="4032504"/>
            <a:ext cx="108539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원문·코드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논문 (arXiv 2303.04137)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프로젝트 페이지 — 실물 영상·학습 상세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공식 코드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DDPM (2006.11239)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Lilian Weng 확산 해설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DDIM (2010.02502)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iDDPM (2102.09672)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score (1907.05600)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FiLM (1709.07871)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비교군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IBC (2109.00137)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BeT (2206.11251)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Robomimic (2108.03298)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LSTM-GMM 출처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OpenVLA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π0 — Physical Intelligence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GR00T N1</a:t>
            </a: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0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LeRobot — ACT·DP 구현, 4회차 실습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9079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링크 모음 — 강의 중 바로 열기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82912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학습자료 8장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31536" cy="2331720"/>
          </a:xfrm>
          <a:prstGeom prst="roundRect">
            <a:avLst>
              <a:gd name="adj" fmla="val 2745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7512" y="129844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영상으로 보여주기 (수업 중 재생용)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1609344"/>
            <a:ext cx="510235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Diffusion Policy 프로젝트 페이지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실물 Push-T·교란·소스·양팔 영상 (5부에서 클릭)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ALOHA 프로젝트 페이지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전반부 ACT 영상, 비교 재생용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4496" y="1188720"/>
            <a:ext cx="5431536" cy="2331720"/>
          </a:xfrm>
          <a:prstGeom prst="roundRect">
            <a:avLst>
              <a:gd name="adj" fmla="val 2745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19088" y="129844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원문·코드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19088" y="1609344"/>
            <a:ext cx="510235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Diffusion Policy 논문 (arXiv 2303.04137)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공식 코드 — real-stanford/diffusion_policy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시뮬 벤치마크·실물 파이프라인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LeRobot (Hugging Face)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DP·ACT 구현, 4회차 실습 프레임워크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5431536" cy="2331720"/>
          </a:xfrm>
          <a:prstGeom prst="roundRect">
            <a:avLst>
              <a:gd name="adj" fmla="val 2745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7512" y="381304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개념 바로 열기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" y="4123944"/>
            <a:ext cx="510235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DDPM (2006.11239)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Lilian Weng 확산 해설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DDIM (2010.02502)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추론 가속 · </a:t>
            </a: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iDDPM (2102.09672)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Square Cosine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Score 기반 생성 (1907.05600)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그래디언트 장 관점의 원류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FiLM (1709.07871)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CNN판 조건 주입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4496" y="3703320"/>
            <a:ext cx="5431536" cy="2331720"/>
          </a:xfrm>
          <a:prstGeom prst="roundRect">
            <a:avLst>
              <a:gd name="adj" fmla="val 2745"/>
            </a:avLst>
          </a:prstGeom>
          <a:solidFill>
            <a:srgbClr val="EEF3FA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19088" y="381304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비교군 · 후속 · 다음 회차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4123944"/>
            <a:ext cx="510235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IBC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BeT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Robomimic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5부 비교 대상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DP3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UMI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Consistency Policy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후속 갈래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OpenVLA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π0 — Physical Intelligence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(3회차)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u="sng" dirty="0">
                <a:solidFill>
                  <a:srgbClr val="1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GR00T N1 (NVIDIA)</a:t>
            </a: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diffusion 행동 헤드 (4회차)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10819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팁: 파란 밑줄 글씨는 하이퍼링크 — 발표 모드에서 클릭하면 기본 브라우저로 열립니다. 영상은 미리 한 번 열어 로딩해 두면 매끄럽습니다.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F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하계 VLA 스터디 2회차 · Diffusion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가져갈 세 문장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457200" cy="457200"/>
          </a:xfrm>
          <a:prstGeom prst="ellipse">
            <a:avLst/>
          </a:prstGeom>
          <a:solidFill>
            <a:srgbClr val="E6A8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10497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Diffusion Policy는 "행동 생성"을 조건부 확산으로 풀어, 다봉·고차원·안정이라는 세 요구를 한 기계로 충족한다 — 15과제 전 승, 평균 +46.9%.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457200" cy="457200"/>
          </a:xfrm>
          <a:prstGeom prst="ellipse">
            <a:avLst/>
          </a:prstGeom>
          <a:solidFill>
            <a:srgbClr val="E6A8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331720"/>
            <a:ext cx="10497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실행은 "To 보고, Tp 그리고, Ta만": receding horizon이 확률적 샘플링과 폐루프를 화해시킨다 — ACT의 temporal ensemble과 대구를 이루는 장치.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E6A8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474720"/>
            <a:ext cx="10497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승부를 가른 것은 표현력만이 아니라 학습 안정성(Z와 싸우지 않는 score)이다 — 하이퍼파라미터가 과제 간 일정하고, 실물에 out-of-the-box로 이식됐다.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498348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2A4A73"/>
          </a:solidFill>
          <a:ln w="12700">
            <a:solidFill>
              <a:srgbClr val="3D5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10725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6A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토론.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RM75 접촉 과제에 ACT(50Hz·1패스)와 DP(10Hz·K패스) 중 무엇을 고를 것인가 — 지연·정밀·다봉성 기준으로.  ② idle이 많은 우리 시연 데이터, 지울 것인가 남길 것인가 — 두 논문의 답이 갈리는가?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8467</Words>
  <Application>Microsoft Macintosh PowerPoint</Application>
  <PresentationFormat>와이드스크린</PresentationFormat>
  <Paragraphs>600</Paragraphs>
  <Slides>36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0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Hyunsoo Woo</cp:lastModifiedBy>
  <cp:revision>3</cp:revision>
  <dcterms:created xsi:type="dcterms:W3CDTF">2026-07-30T15:48:01Z</dcterms:created>
  <dcterms:modified xsi:type="dcterms:W3CDTF">2026-07-30T15:57:04Z</dcterms:modified>
</cp:coreProperties>
</file>